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Individual submission for the ICPR 2026 Beyond Visible Spectrum competition. Core idea: use the data's own hyperspectral signatures to predict which modalities should help, then test that prediction with a controlled three-way ablation.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this project is not about picking the best architecture or getting the highest score. It is about asking a specific scientific question — which modalities help, and why — and testing it rigorously. That framing is what drives the whole experimental design. The three Kaggle scores you see here are on an independent test set the model never saw — consistent with the cross-validation trend.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resolution mismatch: HS gives us 125 channels but at half the spatial resolution (32x32 vs 64x64). Naive channel concatenation fails because the spatial dimensions don't match. The learned spectral encoder (Slide 5) upsamples HS after spectral compression, solving this. Also: RGB is synthesized from the HS cube by selecting three bands — it is not from a separate camera. This explains the unusual color casts in Figure 1 of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 spend time here. Key points: (1) RGB is informationally blind to the most discriminative spectral region. This is not a modelling failure; it is a physics fact. (2) MS adds one sample in that region (Red Edge band). (3) HS adds ~17 samples across it. The performance gains we see (Slides 6-8) follow directly from this. If asked why we chose ResNet50 rather than something more complex: with only 600 labeled samples, a simple model with strong ImageNet pretraining outperforms large untrained models. Larger models overfit.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models use identical training: 25 epochs, AdamW lr=1e-4, cosine annealing LR, cross-entropy loss, batch=32, 5-fold stratified CV, fixed seeds. The ONLY difference is the input channel count. Why 1D conv rather than PCA? PCA maximizes variance; our encoder maximizes discriminability for the task. Since the diagnostic signal is concentrated in the red-edge region (not uniformly spread), task-optimized encoding is better. Why not 3D-CNN? 3D-CNNs are powerful but require large training sets. With 600 samples, our lightweight encoder + pretrained ResNet50 is the right tradeoff.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critical thing to notice: ALL 8 metrics we tracked improve monotonically. CV accuracy, CV macro-F1, Kaggle public score, Kaggle private score, and per-class F1 for all three classes. The Kaggle private split was never seen by any model during training — yet it confirms the same trend. This is not lucky CV splits; it is a consistent informational signal. The Health class gain (+12 pp F1 total) is concentrated exactly where Figure 2 predicted. Other F1 plateaued between B and C (0.805→0.803): the NIR band in MS already separates vegetation from background; HS adds fine detail useful for Health/Rust but not for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dominant error is Health misclassified as Rust: 113 cases in Model A. This is exactly what Figure 2 predicts — RGB cannot distinguish the two in the spectral region it samples. As we add spectral bands that sample the red-edge region, this error drops: 113 → 104 → 85 (25% reduction). Note also: Rust recall was already high in Model A (164/200 = 82%) — the model is biased toward predicting Rust, which catches most true Rust but creates false alarms on Health. This bias also reduces as we add more spectral information, because the model can now distinguish true Rust from healthy wheat more precisely.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context: 260 teams entered this competition. Public scores range from ~0.33 (random) to ~0.94 for top teams. Top teams use self-supervised pretraining on unlabeled Sentinel satellite data plus full attention-based fusion. Our 0.722 private score uses labeled data only and a standard backbone — no SSL, no Sentinel — placing us in the competitive upper third of the leaderboard. The gap to 0.94 is largely explained by not using the unlabeled Sentinel data, which is Task 2 of the competition.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Zhang et al. [8] is the most important reference — they used the exact same sensor hardware as this competition. Their architecture is more complex (Inception-ResNet with sliding window), but they don't compare modalities or do multimodal fusion. If asked 'why not use 3D-CNN like Bhatt et al.?': 3D-CNNs require large training sets. With 600 samples, they would overfit. Our lightweight encoder + pretrained ResNet50 is the right choice. If asked about the self-supervised pretraining the top teams use: that is Task 2 of the competition, which uses the large unlabeled Sentinel satellite archive. We deliberately focused on Task 1 (labeled data only) for a cleaner ablation.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to be ready to explain in the oral exam: (1) Why did Other plateau? Physics — NIR already does the job for vegetation/background, HS adds nothing for that boundary. (2) Why training ≈ validation accuracy? Augmentation makes training harder, not overfitting. (3) What is the path to 0.90+? Self-supervised pretraining on the Sentinel archive + late fusion with cross-modal attention. We deliberately did not pursue this to keep the ablation clean and focused.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for oral defense: The project is a controlled ablation, not a model search. We started with a question from the data (which spectral regions separate Health from Rust?), derived a prediction, and confirmed it rigorously. Every result shown is reproducible from the accompanying notebook. If asked what I would do differently: add self-supervised pretraining on Sentinel data and replace early fusion with a late-fusion attention module. Both are natural extensions of this work and are what separate our 0.722 from the top-team 0.94.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5F2D"/>
        </a:solidFill>
      </p:bgPr>
    </p:bg>
    <p:spTree>
      <p:nvGrpSpPr>
        <p:cNvPr id="1" name=""/>
        <p:cNvGrpSpPr/>
        <p:nvPr/>
      </p:nvGrpSpPr>
      <p:grpSpPr>
        <a:xfrm>
          <a:off x="0" y="0"/>
          <a:ext cx="0" cy="0"/>
          <a:chOff x="0" y="0"/>
          <a:chExt cx="0" cy="0"/>
        </a:xfrm>
      </p:grpSpPr>
      <p:sp>
        <p:nvSpPr>
          <p:cNvPr id="2" name="Shape 0"/>
          <p:cNvSpPr/>
          <p:nvPr/>
        </p:nvSpPr>
        <p:spPr>
          <a:xfrm>
            <a:off x="0" y="6126480"/>
            <a:ext cx="12161520" cy="731520"/>
          </a:xfrm>
          <a:prstGeom prst="rect">
            <a:avLst/>
          </a:prstGeom>
          <a:solidFill>
            <a:srgbClr val="97BC62"/>
          </a:solidFill>
          <a:ln w="12700">
            <a:solidFill>
              <a:srgbClr val="97BC62"/>
            </a:solidFill>
            <a:prstDash val="solid"/>
          </a:ln>
        </p:spPr>
      </p:sp>
      <p:sp>
        <p:nvSpPr>
          <p:cNvPr id="3" name="Text 1"/>
          <p:cNvSpPr/>
          <p:nvPr/>
        </p:nvSpPr>
        <p:spPr>
          <a:xfrm>
            <a:off x="914400" y="1645920"/>
            <a:ext cx="10332720" cy="109728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Wheat Disease Classification</a:t>
            </a:r>
            <a:endParaRPr lang="en-US" sz="4800" dirty="0"/>
          </a:p>
        </p:txBody>
      </p:sp>
      <p:sp>
        <p:nvSpPr>
          <p:cNvPr id="4" name="Text 2"/>
          <p:cNvSpPr/>
          <p:nvPr/>
        </p:nvSpPr>
        <p:spPr>
          <a:xfrm>
            <a:off x="914400" y="2834640"/>
            <a:ext cx="10332720" cy="640080"/>
          </a:xfrm>
          <a:prstGeom prst="rect">
            <a:avLst/>
          </a:prstGeom>
          <a:noFill/>
          <a:ln/>
        </p:spPr>
        <p:txBody>
          <a:bodyPr wrap="square" lIns="0" tIns="0" rIns="0" bIns="0" rtlCol="0" anchor="ctr"/>
          <a:lstStyle/>
          <a:p>
            <a:pPr indent="0" marL="0">
              <a:buNone/>
            </a:pPr>
            <a:r>
              <a:rPr lang="en-US" sz="2600" i="1" dirty="0">
                <a:solidFill>
                  <a:srgbClr val="CADCFC"/>
                </a:solidFill>
                <a:latin typeface="Calibri" pitchFamily="34" charset="0"/>
                <a:ea typeface="Calibri" pitchFamily="34" charset="-122"/>
                <a:cs typeface="Calibri" pitchFamily="34" charset="-120"/>
              </a:rPr>
              <a:t>A Three-Modality Ablation:  RGB → +MS → +HS</a:t>
            </a:r>
            <a:endParaRPr lang="en-US" sz="2600" dirty="0"/>
          </a:p>
        </p:txBody>
      </p:sp>
      <p:sp>
        <p:nvSpPr>
          <p:cNvPr id="5" name="Text 3"/>
          <p:cNvSpPr/>
          <p:nvPr/>
        </p:nvSpPr>
        <p:spPr>
          <a:xfrm>
            <a:off x="914400" y="4023360"/>
            <a:ext cx="10332720" cy="146304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Deep Learning Project Report</a:t>
            </a:r>
            <a:endParaRPr lang="en-US" sz="1800" dirty="0"/>
          </a:p>
          <a:p>
            <a:pPr indent="0" marL="0">
              <a:buNone/>
            </a:pPr>
            <a:r>
              <a:rPr lang="en-US" sz="1600" dirty="0">
                <a:solidFill>
                  <a:srgbClr val="CADCFC"/>
                </a:solidFill>
                <a:latin typeface="Calibri" pitchFamily="34" charset="0"/>
                <a:ea typeface="Calibri" pitchFamily="34" charset="-122"/>
                <a:cs typeface="Calibri" pitchFamily="34" charset="-120"/>
              </a:rPr>
              <a:t>Spring 2026 — University of Jordan</a:t>
            </a:r>
            <a:endParaRPr lang="en-US" sz="1800" dirty="0"/>
          </a:p>
          <a:p>
            <a:pPr indent="0" marL="0">
              <a:buNone/>
            </a:pPr>
            <a:r>
              <a:rPr lang="en-US" sz="1600" dirty="0">
                <a:solidFill>
                  <a:srgbClr val="CADCFC"/>
                </a:solidFill>
                <a:latin typeface="Calibri" pitchFamily="34" charset="0"/>
                <a:ea typeface="Calibri" pitchFamily="34" charset="-122"/>
                <a:cs typeface="Calibri" pitchFamily="34" charset="-120"/>
              </a:rPr>
              <a:t>Instructor: Dr. Tamam AlSarhan</a:t>
            </a:r>
            <a:endParaRPr lang="en-US" sz="1800" dirty="0"/>
          </a:p>
        </p:txBody>
      </p:sp>
      <p:sp>
        <p:nvSpPr>
          <p:cNvPr id="6" name="Text 4"/>
          <p:cNvSpPr/>
          <p:nvPr/>
        </p:nvSpPr>
        <p:spPr>
          <a:xfrm>
            <a:off x="914400" y="6263640"/>
            <a:ext cx="10332720" cy="365760"/>
          </a:xfrm>
          <a:prstGeom prst="rect">
            <a:avLst/>
          </a:prstGeom>
          <a:noFill/>
          <a:ln/>
        </p:spPr>
        <p:txBody>
          <a:bodyPr wrap="square" lIns="0" tIns="0" rIns="0" bIns="0" rtlCol="0" anchor="ctr"/>
          <a:lstStyle/>
          <a:p>
            <a:pPr indent="0" marL="0">
              <a:buNone/>
            </a:pPr>
            <a:r>
              <a:rPr lang="en-US" sz="1300" b="1" i="1" dirty="0">
                <a:solidFill>
                  <a:srgbClr val="2C5F2D"/>
                </a:solidFill>
                <a:latin typeface="Calibri" pitchFamily="34" charset="0"/>
                <a:ea typeface="Calibri" pitchFamily="34" charset="-122"/>
                <a:cs typeface="Calibri" pitchFamily="34" charset="-120"/>
              </a:rPr>
              <a:t>ICPR 2026 — Beyond Visible Spectrum: AI for Agriculture  |  Individual Submission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indent="0" marL="0">
              <a:buNone/>
            </a:pPr>
            <a:r>
              <a:rPr lang="en-US" sz="3200" b="1" dirty="0">
                <a:solidFill>
                  <a:srgbClr val="2C5F2D"/>
                </a:solidFill>
                <a:latin typeface="Calibri" pitchFamily="34" charset="0"/>
                <a:ea typeface="Calibri" pitchFamily="34" charset="-122"/>
                <a:cs typeface="Calibri" pitchFamily="34" charset="-120"/>
              </a:rPr>
              <a:t>What We Did — and Why</a:t>
            </a:r>
            <a:endParaRPr lang="en-US" sz="3200" dirty="0"/>
          </a:p>
        </p:txBody>
      </p:sp>
      <p:sp>
        <p:nvSpPr>
          <p:cNvPr id="3" name="Shape 1"/>
          <p:cNvSpPr/>
          <p:nvPr/>
        </p:nvSpPr>
        <p:spPr>
          <a:xfrm>
            <a:off x="457200" y="960120"/>
            <a:ext cx="548640" cy="54864"/>
          </a:xfrm>
          <a:prstGeom prst="rect">
            <a:avLst/>
          </a:prstGeom>
          <a:solidFill>
            <a:srgbClr val="97BC62"/>
          </a:solidFill>
          <a:ln w="12700">
            <a:solidFill>
              <a:srgbClr val="97BC62"/>
            </a:solidFill>
            <a:prstDash val="solid"/>
          </a:ln>
        </p:spPr>
      </p:sp>
      <p:sp>
        <p:nvSpPr>
          <p:cNvPr id="4" name="Text 2"/>
          <p:cNvSpPr/>
          <p:nvPr/>
        </p:nvSpPr>
        <p:spPr>
          <a:xfrm>
            <a:off x="457200" y="1280160"/>
            <a:ext cx="6583680" cy="5029200"/>
          </a:xfrm>
          <a:prstGeom prst="rect">
            <a:avLst/>
          </a:prstGeom>
          <a:noFill/>
          <a:ln/>
        </p:spPr>
        <p:txBody>
          <a:bodyPr wrap="square" lIns="0" tIns="0" rIns="0" bIns="0" rtlCol="0" anchor="t"/>
          <a:lstStyle/>
          <a:p>
            <a:pPr indent="0" marL="0">
              <a:buNone/>
            </a:pPr>
            <a:r>
              <a:rPr lang="en-US" sz="1800" b="1" dirty="0">
                <a:solidFill>
                  <a:srgbClr val="2C5F2D"/>
                </a:solidFill>
                <a:latin typeface="Calibri" pitchFamily="34" charset="0"/>
                <a:ea typeface="Calibri" pitchFamily="34" charset="-122"/>
                <a:cs typeface="Calibri" pitchFamily="34" charset="-120"/>
              </a:rPr>
              <a:t>The goal</a:t>
            </a:r>
            <a:endParaRPr lang="en-US" sz="18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800" dirty="0"/>
          </a:p>
          <a:p>
            <a:pPr indent="0" marL="0">
              <a:buNone/>
            </a:pPr>
            <a:r>
              <a:rPr lang="en-US" sz="1400" dirty="0">
                <a:solidFill>
                  <a:srgbClr val="1F2937"/>
                </a:solidFill>
                <a:latin typeface="Calibri" pitchFamily="34" charset="0"/>
                <a:ea typeface="Calibri" pitchFamily="34" charset="-122"/>
                <a:cs typeface="Calibri" pitchFamily="34" charset="-120"/>
              </a:rPr>
              <a:t>Classify wheat-field image patches into Health, Rust, or Other using three aligned UAV sensor modalities.</a:t>
            </a:r>
            <a:endParaRPr lang="en-US" sz="18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800" dirty="0"/>
          </a:p>
          <a:p>
            <a:pPr indent="0" marL="0">
              <a:buNone/>
            </a:pPr>
            <a:r>
              <a:rPr lang="en-US" sz="1800" b="1" dirty="0">
                <a:solidFill>
                  <a:srgbClr val="2C5F2D"/>
                </a:solidFill>
                <a:latin typeface="Calibri" pitchFamily="34" charset="0"/>
                <a:ea typeface="Calibri" pitchFamily="34" charset="-122"/>
                <a:cs typeface="Calibri" pitchFamily="34" charset="-120"/>
              </a:rPr>
              <a:t>The approach</a:t>
            </a:r>
            <a:endParaRPr lang="en-US" sz="18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800" dirty="0"/>
          </a:p>
          <a:p>
            <a:pPr indent="0" marL="0">
              <a:buNone/>
            </a:pPr>
            <a:r>
              <a:rPr lang="en-US" sz="1400" dirty="0">
                <a:solidFill>
                  <a:srgbClr val="1F2937"/>
                </a:solidFill>
                <a:latin typeface="Calibri" pitchFamily="34" charset="0"/>
                <a:ea typeface="Calibri" pitchFamily="34" charset="-122"/>
                <a:cs typeface="Calibri" pitchFamily="34" charset="-120"/>
              </a:rPr>
              <a:t>We trained three identical models differing only in their input modality. This lets us attribute any performance difference causally to the added spectral information.</a:t>
            </a:r>
            <a:endParaRPr lang="en-US" sz="18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800" dirty="0"/>
          </a:p>
          <a:p>
            <a:pPr marL="342900" indent="-342900">
              <a:buSzPct val="100000"/>
              <a:buChar char="•"/>
            </a:pPr>
            <a:r>
              <a:rPr lang="en-US" sz="1400" b="1" dirty="0">
                <a:solidFill>
                  <a:srgbClr val="5B8CB0"/>
                </a:solidFill>
                <a:latin typeface="Calibri" pitchFamily="34" charset="0"/>
                <a:ea typeface="Calibri" pitchFamily="34" charset="-122"/>
                <a:cs typeface="Calibri" pitchFamily="34" charset="-120"/>
              </a:rPr>
              <a:t>Model A  →  RGB only (baseline)</a:t>
            </a:r>
            <a:endParaRPr lang="en-US" sz="1800" dirty="0"/>
          </a:p>
          <a:p>
            <a:pPr marL="342900" indent="-342900">
              <a:buSzPct val="100000"/>
              <a:buChar char="•"/>
            </a:pPr>
            <a:r>
              <a:rPr lang="en-US" sz="1400" b="1" dirty="0">
                <a:solidFill>
                  <a:srgbClr val="97BC62"/>
                </a:solidFill>
                <a:latin typeface="Calibri" pitchFamily="34" charset="0"/>
                <a:ea typeface="Calibri" pitchFamily="34" charset="-122"/>
                <a:cs typeface="Calibri" pitchFamily="34" charset="-120"/>
              </a:rPr>
              <a:t>Model B  →  RGB + MS (adds Red Edge + NIR bands)</a:t>
            </a:r>
            <a:endParaRPr lang="en-US" sz="1800" dirty="0"/>
          </a:p>
          <a:p>
            <a:pPr marL="342900" indent="-342900">
              <a:buSzPct val="100000"/>
              <a:buChar char="•"/>
            </a:pPr>
            <a:r>
              <a:rPr lang="en-US" sz="1400" b="1" dirty="0">
                <a:solidFill>
                  <a:srgbClr val="2C5F2D"/>
                </a:solidFill>
                <a:latin typeface="Calibri" pitchFamily="34" charset="0"/>
                <a:ea typeface="Calibri" pitchFamily="34" charset="-122"/>
                <a:cs typeface="Calibri" pitchFamily="34" charset="-120"/>
              </a:rPr>
              <a:t>Model C  →  RGB + MS + HS (adds full 125-band spectrum)</a:t>
            </a:r>
            <a:endParaRPr lang="en-US" sz="1800" dirty="0"/>
          </a:p>
        </p:txBody>
      </p:sp>
      <p:sp>
        <p:nvSpPr>
          <p:cNvPr id="5" name="Shape 3"/>
          <p:cNvSpPr/>
          <p:nvPr/>
        </p:nvSpPr>
        <p:spPr>
          <a:xfrm>
            <a:off x="7315200" y="1371600"/>
            <a:ext cx="4572000" cy="1371600"/>
          </a:xfrm>
          <a:prstGeom prst="rect">
            <a:avLst/>
          </a:prstGeom>
          <a:solidFill>
            <a:srgbClr val="FFFFFF"/>
          </a:solidFill>
          <a:ln w="25400">
            <a:solidFill>
              <a:srgbClr val="5B8CB0"/>
            </a:solidFill>
            <a:prstDash val="solid"/>
          </a:ln>
        </p:spPr>
      </p:sp>
      <p:sp>
        <p:nvSpPr>
          <p:cNvPr id="6" name="Shape 4"/>
          <p:cNvSpPr/>
          <p:nvPr/>
        </p:nvSpPr>
        <p:spPr>
          <a:xfrm>
            <a:off x="7315200" y="1371600"/>
            <a:ext cx="137160" cy="1371600"/>
          </a:xfrm>
          <a:prstGeom prst="rect">
            <a:avLst/>
          </a:prstGeom>
          <a:solidFill>
            <a:srgbClr val="5B8CB0"/>
          </a:solidFill>
          <a:ln w="12700">
            <a:solidFill>
              <a:srgbClr val="5B8CB0"/>
            </a:solidFill>
            <a:prstDash val="solid"/>
          </a:ln>
        </p:spPr>
      </p:sp>
      <p:sp>
        <p:nvSpPr>
          <p:cNvPr id="7" name="Text 5"/>
          <p:cNvSpPr/>
          <p:nvPr/>
        </p:nvSpPr>
        <p:spPr>
          <a:xfrm>
            <a:off x="7589520" y="1463040"/>
            <a:ext cx="4114800" cy="365760"/>
          </a:xfrm>
          <a:prstGeom prst="rect">
            <a:avLst/>
          </a:prstGeom>
          <a:noFill/>
          <a:ln/>
        </p:spPr>
        <p:txBody>
          <a:bodyPr wrap="square" lIns="0" tIns="0" rIns="0" bIns="0" rtlCol="0" anchor="ctr"/>
          <a:lstStyle/>
          <a:p>
            <a:pPr indent="0" marL="0">
              <a:buNone/>
            </a:pPr>
            <a:r>
              <a:rPr lang="en-US" sz="1300" b="1" dirty="0">
                <a:solidFill>
                  <a:srgbClr val="5B8CB0"/>
                </a:solidFill>
                <a:latin typeface="Calibri" pitchFamily="34" charset="0"/>
                <a:ea typeface="Calibri" pitchFamily="34" charset="-122"/>
                <a:cs typeface="Calibri" pitchFamily="34" charset="-120"/>
              </a:rPr>
              <a:t>Model A — RGB</a:t>
            </a:r>
            <a:endParaRPr lang="en-US" sz="1300" dirty="0"/>
          </a:p>
        </p:txBody>
      </p:sp>
      <p:sp>
        <p:nvSpPr>
          <p:cNvPr id="8" name="Text 6"/>
          <p:cNvSpPr/>
          <p:nvPr/>
        </p:nvSpPr>
        <p:spPr>
          <a:xfrm>
            <a:off x="7589520" y="1810512"/>
            <a:ext cx="2743200" cy="685800"/>
          </a:xfrm>
          <a:prstGeom prst="rect">
            <a:avLst/>
          </a:prstGeom>
          <a:noFill/>
          <a:ln/>
        </p:spPr>
        <p:txBody>
          <a:bodyPr wrap="square" lIns="0" tIns="0" rIns="0" bIns="0" rtlCol="0" anchor="ctr"/>
          <a:lstStyle/>
          <a:p>
            <a:pPr indent="0" marL="0">
              <a:buNone/>
            </a:pPr>
            <a:r>
              <a:rPr lang="en-US" sz="4000" b="1" dirty="0">
                <a:solidFill>
                  <a:srgbClr val="1F2937"/>
                </a:solidFill>
                <a:latin typeface="Calibri" pitchFamily="34" charset="0"/>
                <a:ea typeface="Calibri" pitchFamily="34" charset="-122"/>
                <a:cs typeface="Calibri" pitchFamily="34" charset="-120"/>
              </a:rPr>
              <a:t>0.505</a:t>
            </a:r>
            <a:endParaRPr lang="en-US" sz="4000" dirty="0"/>
          </a:p>
        </p:txBody>
      </p:sp>
      <p:sp>
        <p:nvSpPr>
          <p:cNvPr id="9" name="Text 7"/>
          <p:cNvSpPr/>
          <p:nvPr/>
        </p:nvSpPr>
        <p:spPr>
          <a:xfrm>
            <a:off x="7589520" y="2423160"/>
            <a:ext cx="4114800" cy="27432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Kaggle public score</a:t>
            </a:r>
            <a:endParaRPr lang="en-US" sz="1100" dirty="0"/>
          </a:p>
        </p:txBody>
      </p:sp>
      <p:sp>
        <p:nvSpPr>
          <p:cNvPr id="10" name="Shape 8"/>
          <p:cNvSpPr/>
          <p:nvPr/>
        </p:nvSpPr>
        <p:spPr>
          <a:xfrm>
            <a:off x="7315200" y="2926080"/>
            <a:ext cx="4572000" cy="1371600"/>
          </a:xfrm>
          <a:prstGeom prst="rect">
            <a:avLst/>
          </a:prstGeom>
          <a:solidFill>
            <a:srgbClr val="FFFFFF"/>
          </a:solidFill>
          <a:ln w="25400">
            <a:solidFill>
              <a:srgbClr val="97BC62"/>
            </a:solidFill>
            <a:prstDash val="solid"/>
          </a:ln>
        </p:spPr>
      </p:sp>
      <p:sp>
        <p:nvSpPr>
          <p:cNvPr id="11" name="Shape 9"/>
          <p:cNvSpPr/>
          <p:nvPr/>
        </p:nvSpPr>
        <p:spPr>
          <a:xfrm>
            <a:off x="7315200" y="2926080"/>
            <a:ext cx="137160" cy="1371600"/>
          </a:xfrm>
          <a:prstGeom prst="rect">
            <a:avLst/>
          </a:prstGeom>
          <a:solidFill>
            <a:srgbClr val="97BC62"/>
          </a:solidFill>
          <a:ln w="12700">
            <a:solidFill>
              <a:srgbClr val="97BC62"/>
            </a:solidFill>
            <a:prstDash val="solid"/>
          </a:ln>
        </p:spPr>
      </p:sp>
      <p:sp>
        <p:nvSpPr>
          <p:cNvPr id="12" name="Text 10"/>
          <p:cNvSpPr/>
          <p:nvPr/>
        </p:nvSpPr>
        <p:spPr>
          <a:xfrm>
            <a:off x="7589520" y="3017520"/>
            <a:ext cx="4114800" cy="365760"/>
          </a:xfrm>
          <a:prstGeom prst="rect">
            <a:avLst/>
          </a:prstGeom>
          <a:noFill/>
          <a:ln/>
        </p:spPr>
        <p:txBody>
          <a:bodyPr wrap="square" lIns="0" tIns="0" rIns="0" bIns="0" rtlCol="0" anchor="ctr"/>
          <a:lstStyle/>
          <a:p>
            <a:pPr indent="0" marL="0">
              <a:buNone/>
            </a:pPr>
            <a:r>
              <a:rPr lang="en-US" sz="1300" b="1" dirty="0">
                <a:solidFill>
                  <a:srgbClr val="97BC62"/>
                </a:solidFill>
                <a:latin typeface="Calibri" pitchFamily="34" charset="0"/>
                <a:ea typeface="Calibri" pitchFamily="34" charset="-122"/>
                <a:cs typeface="Calibri" pitchFamily="34" charset="-120"/>
              </a:rPr>
              <a:t>Model B — RGB + MS</a:t>
            </a:r>
            <a:endParaRPr lang="en-US" sz="1300" dirty="0"/>
          </a:p>
        </p:txBody>
      </p:sp>
      <p:sp>
        <p:nvSpPr>
          <p:cNvPr id="13" name="Text 11"/>
          <p:cNvSpPr/>
          <p:nvPr/>
        </p:nvSpPr>
        <p:spPr>
          <a:xfrm>
            <a:off x="7589520" y="3364992"/>
            <a:ext cx="2743200" cy="685800"/>
          </a:xfrm>
          <a:prstGeom prst="rect">
            <a:avLst/>
          </a:prstGeom>
          <a:noFill/>
          <a:ln/>
        </p:spPr>
        <p:txBody>
          <a:bodyPr wrap="square" lIns="0" tIns="0" rIns="0" bIns="0" rtlCol="0" anchor="ctr"/>
          <a:lstStyle/>
          <a:p>
            <a:pPr indent="0" marL="0">
              <a:buNone/>
            </a:pPr>
            <a:r>
              <a:rPr lang="en-US" sz="4000" b="1" dirty="0">
                <a:solidFill>
                  <a:srgbClr val="1F2937"/>
                </a:solidFill>
                <a:latin typeface="Calibri" pitchFamily="34" charset="0"/>
                <a:ea typeface="Calibri" pitchFamily="34" charset="-122"/>
                <a:cs typeface="Calibri" pitchFamily="34" charset="-120"/>
              </a:rPr>
              <a:t>0.632</a:t>
            </a:r>
            <a:endParaRPr lang="en-US" sz="4000" dirty="0"/>
          </a:p>
        </p:txBody>
      </p:sp>
      <p:sp>
        <p:nvSpPr>
          <p:cNvPr id="14" name="Text 12"/>
          <p:cNvSpPr/>
          <p:nvPr/>
        </p:nvSpPr>
        <p:spPr>
          <a:xfrm>
            <a:off x="7589520" y="3977640"/>
            <a:ext cx="4114800" cy="27432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Kaggle public score</a:t>
            </a:r>
            <a:endParaRPr lang="en-US" sz="1100" dirty="0"/>
          </a:p>
        </p:txBody>
      </p:sp>
      <p:sp>
        <p:nvSpPr>
          <p:cNvPr id="15" name="Shape 13"/>
          <p:cNvSpPr/>
          <p:nvPr/>
        </p:nvSpPr>
        <p:spPr>
          <a:xfrm>
            <a:off x="7315200" y="4480560"/>
            <a:ext cx="4572000" cy="1371600"/>
          </a:xfrm>
          <a:prstGeom prst="rect">
            <a:avLst/>
          </a:prstGeom>
          <a:solidFill>
            <a:srgbClr val="FFFFFF"/>
          </a:solidFill>
          <a:ln w="25400">
            <a:solidFill>
              <a:srgbClr val="2C5F2D"/>
            </a:solidFill>
            <a:prstDash val="solid"/>
          </a:ln>
        </p:spPr>
      </p:sp>
      <p:sp>
        <p:nvSpPr>
          <p:cNvPr id="16" name="Shape 14"/>
          <p:cNvSpPr/>
          <p:nvPr/>
        </p:nvSpPr>
        <p:spPr>
          <a:xfrm>
            <a:off x="7315200" y="4480560"/>
            <a:ext cx="137160" cy="1371600"/>
          </a:xfrm>
          <a:prstGeom prst="rect">
            <a:avLst/>
          </a:prstGeom>
          <a:solidFill>
            <a:srgbClr val="2C5F2D"/>
          </a:solidFill>
          <a:ln w="12700">
            <a:solidFill>
              <a:srgbClr val="2C5F2D"/>
            </a:solidFill>
            <a:prstDash val="solid"/>
          </a:ln>
        </p:spPr>
      </p:sp>
      <p:sp>
        <p:nvSpPr>
          <p:cNvPr id="17" name="Text 15"/>
          <p:cNvSpPr/>
          <p:nvPr/>
        </p:nvSpPr>
        <p:spPr>
          <a:xfrm>
            <a:off x="7589520" y="4572000"/>
            <a:ext cx="4114800" cy="36576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Model C — RGB + MS + HS</a:t>
            </a:r>
            <a:endParaRPr lang="en-US" sz="1300" dirty="0"/>
          </a:p>
        </p:txBody>
      </p:sp>
      <p:sp>
        <p:nvSpPr>
          <p:cNvPr id="18" name="Text 16"/>
          <p:cNvSpPr/>
          <p:nvPr/>
        </p:nvSpPr>
        <p:spPr>
          <a:xfrm>
            <a:off x="7589520" y="4919472"/>
            <a:ext cx="2743200" cy="685800"/>
          </a:xfrm>
          <a:prstGeom prst="rect">
            <a:avLst/>
          </a:prstGeom>
          <a:noFill/>
          <a:ln/>
        </p:spPr>
        <p:txBody>
          <a:bodyPr wrap="square" lIns="0" tIns="0" rIns="0" bIns="0" rtlCol="0" anchor="ctr"/>
          <a:lstStyle/>
          <a:p>
            <a:pPr indent="0" marL="0">
              <a:buNone/>
            </a:pPr>
            <a:r>
              <a:rPr lang="en-US" sz="4000" b="1" dirty="0">
                <a:solidFill>
                  <a:srgbClr val="1F2937"/>
                </a:solidFill>
                <a:latin typeface="Calibri" pitchFamily="34" charset="0"/>
                <a:ea typeface="Calibri" pitchFamily="34" charset="-122"/>
                <a:cs typeface="Calibri" pitchFamily="34" charset="-120"/>
              </a:rPr>
              <a:t>0.684</a:t>
            </a:r>
            <a:endParaRPr lang="en-US" sz="4000" dirty="0"/>
          </a:p>
        </p:txBody>
      </p:sp>
      <p:sp>
        <p:nvSpPr>
          <p:cNvPr id="19" name="Text 17"/>
          <p:cNvSpPr/>
          <p:nvPr/>
        </p:nvSpPr>
        <p:spPr>
          <a:xfrm>
            <a:off x="7589520" y="5532120"/>
            <a:ext cx="4114800" cy="27432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Kaggle public score</a:t>
            </a:r>
            <a:endParaRPr lang="en-US" sz="1100" dirty="0"/>
          </a:p>
        </p:txBody>
      </p:sp>
      <p:sp>
        <p:nvSpPr>
          <p:cNvPr id="20" name="Shape 18"/>
          <p:cNvSpPr/>
          <p:nvPr/>
        </p:nvSpPr>
        <p:spPr>
          <a:xfrm>
            <a:off x="457200" y="5715000"/>
            <a:ext cx="11247120" cy="502920"/>
          </a:xfrm>
          <a:prstGeom prst="rect">
            <a:avLst/>
          </a:prstGeom>
          <a:solidFill>
            <a:srgbClr val="2C5F2D"/>
          </a:solidFill>
          <a:ln w="12700">
            <a:solidFill>
              <a:srgbClr val="2C5F2D"/>
            </a:solidFill>
            <a:prstDash val="solid"/>
          </a:ln>
        </p:spPr>
      </p:sp>
      <p:sp>
        <p:nvSpPr>
          <p:cNvPr id="21" name="Text 19"/>
          <p:cNvSpPr/>
          <p:nvPr/>
        </p:nvSpPr>
        <p:spPr>
          <a:xfrm>
            <a:off x="640080" y="5715000"/>
            <a:ext cx="1088136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Every modality adds information in the direction the EDA predicted — no guesswork, no luck.</a:t>
            </a:r>
            <a:endParaRPr lang="en-US" sz="1400" dirty="0"/>
          </a:p>
        </p:txBody>
      </p:sp>
      <p:sp>
        <p:nvSpPr>
          <p:cNvPr id="23" name="Text 20"/>
          <p:cNvSpPr/>
          <p:nvPr/>
        </p:nvSpPr>
        <p:spPr>
          <a:xfrm>
            <a:off x="457200" y="6446520"/>
            <a:ext cx="73152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Wheat Disease Classification  |  Spring 2026</a:t>
            </a:r>
            <a:endParaRPr lang="en-US" sz="1000" dirty="0"/>
          </a:p>
        </p:txBody>
      </p:sp>
      <p:sp>
        <p:nvSpPr>
          <p:cNvPr id="24" name="Text 21"/>
          <p:cNvSpPr/>
          <p:nvPr/>
        </p:nvSpPr>
        <p:spPr>
          <a:xfrm>
            <a:off x="11430000" y="644652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indent="0" marL="0">
              <a:buNone/>
            </a:pPr>
            <a:r>
              <a:rPr lang="en-US" sz="3200" b="1" dirty="0">
                <a:solidFill>
                  <a:srgbClr val="2C5F2D"/>
                </a:solidFill>
                <a:latin typeface="Calibri" pitchFamily="34" charset="0"/>
                <a:ea typeface="Calibri" pitchFamily="34" charset="-122"/>
                <a:cs typeface="Calibri" pitchFamily="34" charset="-120"/>
              </a:rPr>
              <a:t>Dataset: Three Co-Registered Modalities</a:t>
            </a:r>
            <a:endParaRPr lang="en-US" sz="3200" dirty="0"/>
          </a:p>
        </p:txBody>
      </p:sp>
      <p:sp>
        <p:nvSpPr>
          <p:cNvPr id="3" name="Shape 1"/>
          <p:cNvSpPr/>
          <p:nvPr/>
        </p:nvSpPr>
        <p:spPr>
          <a:xfrm>
            <a:off x="457200" y="960120"/>
            <a:ext cx="548640" cy="54864"/>
          </a:xfrm>
          <a:prstGeom prst="rect">
            <a:avLst/>
          </a:prstGeom>
          <a:solidFill>
            <a:srgbClr val="97BC62"/>
          </a:solidFill>
          <a:ln w="12700">
            <a:solidFill>
              <a:srgbClr val="97BC62"/>
            </a:solidFill>
            <a:prstDash val="solid"/>
          </a:ln>
        </p:spPr>
      </p:sp>
      <p:sp>
        <p:nvSpPr>
          <p:cNvPr id="4" name="Text 2"/>
          <p:cNvSpPr/>
          <p:nvPr/>
        </p:nvSpPr>
        <p:spPr>
          <a:xfrm>
            <a:off x="457200" y="1234440"/>
            <a:ext cx="11247120" cy="59436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Wheat-field patches collected by a DJI M600 Pro UAV with an S185 snapshot hyperspectral sensor (60 m altitude, ~4 cm/pixel). All three modalities are spatially aligned to the same physical ground patch.</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2011680"/>
          <a:ext cx="11247120" cy="1828800"/>
        </p:xfrm>
        <a:graphic>
          <a:graphicData uri="http://schemas.openxmlformats.org/drawingml/2006/table">
            <a:tbl>
              <a:tblPr/>
              <a:tblGrid>
                <a:gridCol w="1280160"/>
                <a:gridCol w="2011680"/>
                <a:gridCol w="1371600"/>
                <a:gridCol w="1371600"/>
                <a:gridCol w="5212080"/>
              </a:tblGrid>
              <a:tr h="45720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Modality</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C5F2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Format</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C5F2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Spatial</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C5F2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Channels</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C5F2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Key feature</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C5F2D"/>
                    </a:solidFill>
                  </a:tcPr>
                </a:tc>
              </a:tr>
              <a:tr h="457200">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RGB</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PNG (uint8)</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64×64</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Visible spectrum — cheap, intuitive</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457200">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MS</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TIFF (uint16)</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64×64</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Adds Red Edge (~740 nm) and NIR (~833 nm)</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457200">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HS</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TIFF (uint16)</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32×32</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125</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Full spectrum 450–950 nm at 4 nm resolution</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bl>
          </a:graphicData>
        </a:graphic>
      </p:graphicFrame>
      <p:sp>
        <p:nvSpPr>
          <p:cNvPr id="6" name="Shape 3"/>
          <p:cNvSpPr/>
          <p:nvPr/>
        </p:nvSpPr>
        <p:spPr>
          <a:xfrm>
            <a:off x="457200" y="4114800"/>
            <a:ext cx="3657600" cy="2011680"/>
          </a:xfrm>
          <a:prstGeom prst="rect">
            <a:avLst/>
          </a:prstGeom>
          <a:solidFill>
            <a:srgbClr val="F5F7F2"/>
          </a:solidFill>
          <a:ln w="12700">
            <a:solidFill>
              <a:srgbClr val="97BC62"/>
            </a:solidFill>
            <a:prstDash val="solid"/>
          </a:ln>
        </p:spPr>
      </p:sp>
      <p:sp>
        <p:nvSpPr>
          <p:cNvPr id="7" name="Text 4"/>
          <p:cNvSpPr/>
          <p:nvPr/>
        </p:nvSpPr>
        <p:spPr>
          <a:xfrm>
            <a:off x="640080" y="4251960"/>
            <a:ext cx="3291840" cy="411480"/>
          </a:xfrm>
          <a:prstGeom prst="rect">
            <a:avLst/>
          </a:prstGeom>
          <a:noFill/>
          <a:ln/>
        </p:spPr>
        <p:txBody>
          <a:bodyPr wrap="square" lIns="0" tIns="0" rIns="0" bIns="0" rtlCol="0" anchor="ctr"/>
          <a:lstStyle/>
          <a:p>
            <a:pPr indent="0" marL="0">
              <a:buNone/>
            </a:pPr>
            <a:r>
              <a:rPr lang="en-US" sz="1600" b="1" dirty="0">
                <a:solidFill>
                  <a:srgbClr val="2C5F2D"/>
                </a:solidFill>
                <a:latin typeface="Calibri" pitchFamily="34" charset="0"/>
                <a:ea typeface="Calibri" pitchFamily="34" charset="-122"/>
                <a:cs typeface="Calibri" pitchFamily="34" charset="-120"/>
              </a:rPr>
              <a:t>Perfectly balanced</a:t>
            </a:r>
            <a:endParaRPr lang="en-US" sz="1600" dirty="0"/>
          </a:p>
        </p:txBody>
      </p:sp>
      <p:sp>
        <p:nvSpPr>
          <p:cNvPr id="8" name="Text 5"/>
          <p:cNvSpPr/>
          <p:nvPr/>
        </p:nvSpPr>
        <p:spPr>
          <a:xfrm>
            <a:off x="640080" y="4663440"/>
            <a:ext cx="3291840" cy="13716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200 / 200 / 200 samples — no class-imbalance complications</a:t>
            </a:r>
            <a:endParaRPr lang="en-US" sz="1300" dirty="0"/>
          </a:p>
        </p:txBody>
      </p:sp>
      <p:sp>
        <p:nvSpPr>
          <p:cNvPr id="9" name="Shape 6"/>
          <p:cNvSpPr/>
          <p:nvPr/>
        </p:nvSpPr>
        <p:spPr>
          <a:xfrm>
            <a:off x="4361688" y="4114800"/>
            <a:ext cx="3657600" cy="2011680"/>
          </a:xfrm>
          <a:prstGeom prst="rect">
            <a:avLst/>
          </a:prstGeom>
          <a:solidFill>
            <a:srgbClr val="F5F7F2"/>
          </a:solidFill>
          <a:ln w="12700">
            <a:solidFill>
              <a:srgbClr val="97BC62"/>
            </a:solidFill>
            <a:prstDash val="solid"/>
          </a:ln>
        </p:spPr>
      </p:sp>
      <p:sp>
        <p:nvSpPr>
          <p:cNvPr id="10" name="Text 7"/>
          <p:cNvSpPr/>
          <p:nvPr/>
        </p:nvSpPr>
        <p:spPr>
          <a:xfrm>
            <a:off x="4544568" y="4251960"/>
            <a:ext cx="3291840" cy="411480"/>
          </a:xfrm>
          <a:prstGeom prst="rect">
            <a:avLst/>
          </a:prstGeom>
          <a:noFill/>
          <a:ln/>
        </p:spPr>
        <p:txBody>
          <a:bodyPr wrap="square" lIns="0" tIns="0" rIns="0" bIns="0" rtlCol="0" anchor="ctr"/>
          <a:lstStyle/>
          <a:p>
            <a:pPr indent="0" marL="0">
              <a:buNone/>
            </a:pPr>
            <a:r>
              <a:rPr lang="en-US" sz="1600" b="1" dirty="0">
                <a:solidFill>
                  <a:srgbClr val="2C5F2D"/>
                </a:solidFill>
                <a:latin typeface="Calibri" pitchFamily="34" charset="0"/>
                <a:ea typeface="Calibri" pitchFamily="34" charset="-122"/>
                <a:cs typeface="Calibri" pitchFamily="34" charset="-120"/>
              </a:rPr>
              <a:t>Only 600 labeled samples</a:t>
            </a:r>
            <a:endParaRPr lang="en-US" sz="1600" dirty="0"/>
          </a:p>
        </p:txBody>
      </p:sp>
      <p:sp>
        <p:nvSpPr>
          <p:cNvPr id="11" name="Text 8"/>
          <p:cNvSpPr/>
          <p:nvPr/>
        </p:nvSpPr>
        <p:spPr>
          <a:xfrm>
            <a:off x="4544568" y="4663440"/>
            <a:ext cx="3291840" cy="13716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Small dataset — pretrained backbone and augmentation are essential</a:t>
            </a:r>
            <a:endParaRPr lang="en-US" sz="1300" dirty="0"/>
          </a:p>
        </p:txBody>
      </p:sp>
      <p:sp>
        <p:nvSpPr>
          <p:cNvPr id="12" name="Shape 9"/>
          <p:cNvSpPr/>
          <p:nvPr/>
        </p:nvSpPr>
        <p:spPr>
          <a:xfrm>
            <a:off x="8266176" y="4114800"/>
            <a:ext cx="3657600" cy="2011680"/>
          </a:xfrm>
          <a:prstGeom prst="rect">
            <a:avLst/>
          </a:prstGeom>
          <a:solidFill>
            <a:srgbClr val="F5F7F2"/>
          </a:solidFill>
          <a:ln w="12700">
            <a:solidFill>
              <a:srgbClr val="97BC62"/>
            </a:solidFill>
            <a:prstDash val="solid"/>
          </a:ln>
        </p:spPr>
      </p:sp>
      <p:sp>
        <p:nvSpPr>
          <p:cNvPr id="13" name="Text 10"/>
          <p:cNvSpPr/>
          <p:nvPr/>
        </p:nvSpPr>
        <p:spPr>
          <a:xfrm>
            <a:off x="8449056" y="4251960"/>
            <a:ext cx="3291840" cy="411480"/>
          </a:xfrm>
          <a:prstGeom prst="rect">
            <a:avLst/>
          </a:prstGeom>
          <a:noFill/>
          <a:ln/>
        </p:spPr>
        <p:txBody>
          <a:bodyPr wrap="square" lIns="0" tIns="0" rIns="0" bIns="0" rtlCol="0" anchor="ctr"/>
          <a:lstStyle/>
          <a:p>
            <a:pPr indent="0" marL="0">
              <a:buNone/>
            </a:pPr>
            <a:r>
              <a:rPr lang="en-US" sz="1600" b="1" dirty="0">
                <a:solidFill>
                  <a:srgbClr val="2C5F2D"/>
                </a:solidFill>
                <a:latin typeface="Calibri" pitchFamily="34" charset="0"/>
                <a:ea typeface="Calibri" pitchFamily="34" charset="-122"/>
                <a:cs typeface="Calibri" pitchFamily="34" charset="-120"/>
              </a:rPr>
              <a:t>Resolution mismatch</a:t>
            </a:r>
            <a:endParaRPr lang="en-US" sz="1600" dirty="0"/>
          </a:p>
        </p:txBody>
      </p:sp>
      <p:sp>
        <p:nvSpPr>
          <p:cNvPr id="14" name="Text 11"/>
          <p:cNvSpPr/>
          <p:nvPr/>
        </p:nvSpPr>
        <p:spPr>
          <a:xfrm>
            <a:off x="8449056" y="4663440"/>
            <a:ext cx="3291840" cy="13716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HS is 32×32, RGB/MS are 64×64 — the spectral encoder handles this</a:t>
            </a:r>
            <a:endParaRPr lang="en-US" sz="1300" dirty="0"/>
          </a:p>
        </p:txBody>
      </p:sp>
      <p:sp>
        <p:nvSpPr>
          <p:cNvPr id="16" name="Text 12"/>
          <p:cNvSpPr/>
          <p:nvPr/>
        </p:nvSpPr>
        <p:spPr>
          <a:xfrm>
            <a:off x="457200" y="6446520"/>
            <a:ext cx="73152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Wheat Disease Classification  |  Spring 2026</a:t>
            </a:r>
            <a:endParaRPr lang="en-US" sz="1000" dirty="0"/>
          </a:p>
        </p:txBody>
      </p:sp>
      <p:sp>
        <p:nvSpPr>
          <p:cNvPr id="17" name="Text 13"/>
          <p:cNvSpPr/>
          <p:nvPr/>
        </p:nvSpPr>
        <p:spPr>
          <a:xfrm>
            <a:off x="11430000" y="644652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indent="0" marL="0">
              <a:buNone/>
            </a:pPr>
            <a:r>
              <a:rPr lang="en-US" sz="3200" b="1" dirty="0">
                <a:solidFill>
                  <a:srgbClr val="2C5F2D"/>
                </a:solidFill>
                <a:latin typeface="Calibri" pitchFamily="34" charset="0"/>
                <a:ea typeface="Calibri" pitchFamily="34" charset="-122"/>
                <a:cs typeface="Calibri" pitchFamily="34" charset="-120"/>
              </a:rPr>
              <a:t>The Key Insight: Where Health and Rust Differ</a:t>
            </a:r>
            <a:endParaRPr lang="en-US" sz="3200" dirty="0"/>
          </a:p>
        </p:txBody>
      </p:sp>
      <p:sp>
        <p:nvSpPr>
          <p:cNvPr id="3" name="Shape 1"/>
          <p:cNvSpPr/>
          <p:nvPr/>
        </p:nvSpPr>
        <p:spPr>
          <a:xfrm>
            <a:off x="457200" y="960120"/>
            <a:ext cx="548640" cy="54864"/>
          </a:xfrm>
          <a:prstGeom prst="rect">
            <a:avLst/>
          </a:prstGeom>
          <a:solidFill>
            <a:srgbClr val="97BC62"/>
          </a:solidFill>
          <a:ln w="12700">
            <a:solidFill>
              <a:srgbClr val="97BC62"/>
            </a:solidFill>
            <a:prstDash val="solid"/>
          </a:ln>
        </p:spPr>
      </p:sp>
      <p:pic>
        <p:nvPicPr>
          <p:cNvPr id="4" name="Image 0" descr="/home/claude/submission/figures/fig2_hs_signatures.png">    </p:cNvPr>
          <p:cNvPicPr>
            <a:picLocks noChangeAspect="1"/>
          </p:cNvPicPr>
          <p:nvPr/>
        </p:nvPicPr>
        <p:blipFill>
          <a:blip r:embed="rId1"/>
          <a:stretch>
            <a:fillRect/>
          </a:stretch>
        </p:blipFill>
        <p:spPr>
          <a:xfrm>
            <a:off x="457200" y="1280160"/>
            <a:ext cx="7132320" cy="3200400"/>
          </a:xfrm>
          <a:prstGeom prst="rect">
            <a:avLst/>
          </a:prstGeom>
        </p:spPr>
      </p:pic>
      <p:sp>
        <p:nvSpPr>
          <p:cNvPr id="5" name="Text 2"/>
          <p:cNvSpPr/>
          <p:nvPr/>
        </p:nvSpPr>
        <p:spPr>
          <a:xfrm>
            <a:off x="457200" y="4480560"/>
            <a:ext cx="7132320" cy="274320"/>
          </a:xfrm>
          <a:prstGeom prst="rect">
            <a:avLst/>
          </a:prstGeom>
          <a:noFill/>
          <a:ln/>
        </p:spPr>
        <p:txBody>
          <a:bodyPr wrap="square" lIns="0" tIns="0" rIns="0" bIns="0"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Mean reflectance across 125 bands, averaged over 200 training samples per class</a:t>
            </a:r>
            <a:endParaRPr lang="en-US" sz="1100" dirty="0"/>
          </a:p>
        </p:txBody>
      </p:sp>
      <p:sp>
        <p:nvSpPr>
          <p:cNvPr id="6" name="Text 3"/>
          <p:cNvSpPr/>
          <p:nvPr/>
        </p:nvSpPr>
        <p:spPr>
          <a:xfrm>
            <a:off x="7863840" y="1280160"/>
            <a:ext cx="3931920" cy="411480"/>
          </a:xfrm>
          <a:prstGeom prst="rect">
            <a:avLst/>
          </a:prstGeom>
          <a:noFill/>
          <a:ln/>
        </p:spPr>
        <p:txBody>
          <a:bodyPr wrap="square" lIns="0" tIns="0" rIns="0" bIns="0" rtlCol="0" anchor="ctr"/>
          <a:lstStyle/>
          <a:p>
            <a:pPr indent="0" marL="0">
              <a:buNone/>
            </a:pPr>
            <a:r>
              <a:rPr lang="en-US" sz="2000" b="1" dirty="0">
                <a:solidFill>
                  <a:srgbClr val="2C5F2D"/>
                </a:solidFill>
                <a:latin typeface="Calibri" pitchFamily="34" charset="0"/>
                <a:ea typeface="Calibri" pitchFamily="34" charset="-122"/>
                <a:cs typeface="Calibri" pitchFamily="34" charset="-120"/>
              </a:rPr>
              <a:t>Reading this figure</a:t>
            </a:r>
            <a:endParaRPr lang="en-US" sz="2000" dirty="0"/>
          </a:p>
        </p:txBody>
      </p:sp>
      <p:sp>
        <p:nvSpPr>
          <p:cNvPr id="7" name="Text 4"/>
          <p:cNvSpPr/>
          <p:nvPr/>
        </p:nvSpPr>
        <p:spPr>
          <a:xfrm>
            <a:off x="7863840" y="1783080"/>
            <a:ext cx="3931920" cy="374904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Below 680 nm (visible): </a:t>
            </a:r>
            <a:pPr indent="0" marL="0">
              <a:buNone/>
            </a:pPr>
            <a:r>
              <a:rPr lang="en-US" sz="1300" dirty="0">
                <a:solidFill>
                  <a:srgbClr val="1F2937"/>
                </a:solidFill>
                <a:latin typeface="Calibri" pitchFamily="34" charset="0"/>
                <a:ea typeface="Calibri" pitchFamily="34" charset="-122"/>
                <a:cs typeface="Calibri" pitchFamily="34" charset="-120"/>
              </a:rPr>
              <a:t>Health and Rust curves nearly overlap. RGB samples only here. A model with RGB alone is informationally blind to the most discriminative region.</a:t>
            </a:r>
            <a:endParaRPr lang="en-US" sz="1300" dirty="0"/>
          </a:p>
          <a:p>
            <a:pPr indent="0" marL="0">
              <a:buNone/>
            </a:pPr>
            <a:r>
              <a:rPr lang="en-US" sz="5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B85042"/>
                </a:solidFill>
                <a:latin typeface="Calibri" pitchFamily="34" charset="0"/>
                <a:ea typeface="Calibri" pitchFamily="34" charset="-122"/>
                <a:cs typeface="Calibri" pitchFamily="34" charset="-120"/>
              </a:rPr>
              <a:t>680–750 nm (Red Edge): </a:t>
            </a:r>
            <a:pPr indent="0" marL="0">
              <a:buNone/>
            </a:pPr>
            <a:r>
              <a:rPr lang="en-US" sz="1300" dirty="0">
                <a:solidFill>
                  <a:srgbClr val="1F2937"/>
                </a:solidFill>
                <a:latin typeface="Calibri" pitchFamily="34" charset="0"/>
                <a:ea typeface="Calibri" pitchFamily="34" charset="-122"/>
                <a:cs typeface="Calibri" pitchFamily="34" charset="-120"/>
              </a:rPr>
              <a:t>Curves diverge sharply — chlorophyll degradation from rust infection. MS samples this once (Red Edge band ~740 nm); HS samples it ~17 times.</a:t>
            </a:r>
            <a:endParaRPr lang="en-US" sz="1300" dirty="0"/>
          </a:p>
          <a:p>
            <a:pPr indent="0" marL="0">
              <a:buNone/>
            </a:pPr>
            <a:r>
              <a:rPr lang="en-US" sz="5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5B8CB0"/>
                </a:solidFill>
                <a:latin typeface="Calibri" pitchFamily="34" charset="0"/>
                <a:ea typeface="Calibri" pitchFamily="34" charset="-122"/>
                <a:cs typeface="Calibri" pitchFamily="34" charset="-120"/>
              </a:rPr>
              <a:t>Other class </a:t>
            </a:r>
            <a:pPr indent="0" marL="0">
              <a:buNone/>
            </a:pPr>
            <a:r>
              <a:rPr lang="en-US" sz="1300" dirty="0">
                <a:solidFill>
                  <a:srgbClr val="1F2937"/>
                </a:solidFill>
                <a:latin typeface="Calibri" pitchFamily="34" charset="0"/>
                <a:ea typeface="Calibri" pitchFamily="34" charset="-122"/>
                <a:cs typeface="Calibri" pitchFamily="34" charset="-120"/>
              </a:rPr>
              <a:t>has a structurally different shape — lower NIR plateau. Already separable with just the NIR band.</a:t>
            </a:r>
            <a:endParaRPr lang="en-US" sz="1300" dirty="0"/>
          </a:p>
        </p:txBody>
      </p:sp>
      <p:sp>
        <p:nvSpPr>
          <p:cNvPr id="8" name="Shape 5"/>
          <p:cNvSpPr/>
          <p:nvPr/>
        </p:nvSpPr>
        <p:spPr>
          <a:xfrm>
            <a:off x="457200" y="5486400"/>
            <a:ext cx="11247120" cy="640080"/>
          </a:xfrm>
          <a:prstGeom prst="rect">
            <a:avLst/>
          </a:prstGeom>
          <a:solidFill>
            <a:srgbClr val="FFF8E1"/>
          </a:solidFill>
          <a:ln w="12700">
            <a:solidFill>
              <a:srgbClr val="B85042"/>
            </a:solidFill>
            <a:prstDash val="solid"/>
          </a:ln>
        </p:spPr>
      </p:sp>
      <p:sp>
        <p:nvSpPr>
          <p:cNvPr id="9" name="Text 6"/>
          <p:cNvSpPr/>
          <p:nvPr/>
        </p:nvSpPr>
        <p:spPr>
          <a:xfrm>
            <a:off x="640080" y="5486400"/>
            <a:ext cx="10881360" cy="640080"/>
          </a:xfrm>
          <a:prstGeom prst="rect">
            <a:avLst/>
          </a:prstGeom>
          <a:noFill/>
          <a:ln/>
        </p:spPr>
        <p:txBody>
          <a:bodyPr wrap="square" lIns="0" tIns="0" rIns="0" bIns="0" rtlCol="0" anchor="ctr"/>
          <a:lstStyle/>
          <a:p>
            <a:pPr algn="ctr" indent="0" marL="0">
              <a:buNone/>
            </a:pPr>
            <a:r>
              <a:rPr lang="en-US" sz="1400" b="1" dirty="0">
                <a:solidFill>
                  <a:srgbClr val="B85042"/>
                </a:solidFill>
                <a:latin typeface="Calibri" pitchFamily="34" charset="0"/>
                <a:ea typeface="Calibri" pitchFamily="34" charset="-122"/>
                <a:cs typeface="Calibri" pitchFamily="34" charset="-120"/>
              </a:rPr>
              <a:t>This figure is the scientific basis for the entire project. Everything else follows from it.</a:t>
            </a:r>
            <a:endParaRPr lang="en-US" sz="1400" dirty="0"/>
          </a:p>
        </p:txBody>
      </p:sp>
      <p:sp>
        <p:nvSpPr>
          <p:cNvPr id="11" name="Text 7"/>
          <p:cNvSpPr/>
          <p:nvPr/>
        </p:nvSpPr>
        <p:spPr>
          <a:xfrm>
            <a:off x="457200" y="6446520"/>
            <a:ext cx="73152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Wheat Disease Classification  |  Spring 2026</a:t>
            </a:r>
            <a:endParaRPr lang="en-US" sz="1000" dirty="0"/>
          </a:p>
        </p:txBody>
      </p:sp>
      <p:sp>
        <p:nvSpPr>
          <p:cNvPr id="12" name="Text 8"/>
          <p:cNvSpPr/>
          <p:nvPr/>
        </p:nvSpPr>
        <p:spPr>
          <a:xfrm>
            <a:off x="11430000" y="644652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indent="0" marL="0">
              <a:buNone/>
            </a:pPr>
            <a:r>
              <a:rPr lang="en-US" sz="3200" b="1" dirty="0">
                <a:solidFill>
                  <a:srgbClr val="2C5F2D"/>
                </a:solidFill>
                <a:latin typeface="Calibri" pitchFamily="34" charset="0"/>
                <a:ea typeface="Calibri" pitchFamily="34" charset="-122"/>
                <a:cs typeface="Calibri" pitchFamily="34" charset="-120"/>
              </a:rPr>
              <a:t>Method: Three Models, One Architecture Family</a:t>
            </a:r>
            <a:endParaRPr lang="en-US" sz="3200" dirty="0"/>
          </a:p>
        </p:txBody>
      </p:sp>
      <p:sp>
        <p:nvSpPr>
          <p:cNvPr id="3" name="Shape 1"/>
          <p:cNvSpPr/>
          <p:nvPr/>
        </p:nvSpPr>
        <p:spPr>
          <a:xfrm>
            <a:off x="457200" y="960120"/>
            <a:ext cx="548640" cy="54864"/>
          </a:xfrm>
          <a:prstGeom prst="rect">
            <a:avLst/>
          </a:prstGeom>
          <a:solidFill>
            <a:srgbClr val="97BC62"/>
          </a:solidFill>
          <a:ln w="12700">
            <a:solidFill>
              <a:srgbClr val="97BC62"/>
            </a:solidFill>
            <a:prstDash val="solid"/>
          </a:ln>
        </p:spPr>
      </p:sp>
      <p:sp>
        <p:nvSpPr>
          <p:cNvPr id="4" name="Shape 2"/>
          <p:cNvSpPr/>
          <p:nvPr/>
        </p:nvSpPr>
        <p:spPr>
          <a:xfrm>
            <a:off x="457200" y="1371600"/>
            <a:ext cx="3657600" cy="777240"/>
          </a:xfrm>
          <a:prstGeom prst="rect">
            <a:avLst/>
          </a:prstGeom>
          <a:solidFill>
            <a:srgbClr val="5B8CB0"/>
          </a:solidFill>
          <a:ln w="12700">
            <a:solidFill>
              <a:srgbClr val="5B8CB0"/>
            </a:solidFill>
            <a:prstDash val="solid"/>
          </a:ln>
        </p:spPr>
      </p:sp>
      <p:sp>
        <p:nvSpPr>
          <p:cNvPr id="5" name="Text 3"/>
          <p:cNvSpPr/>
          <p:nvPr/>
        </p:nvSpPr>
        <p:spPr>
          <a:xfrm>
            <a:off x="457200" y="1371600"/>
            <a:ext cx="365760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Model A</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RGB only</a:t>
            </a:r>
            <a:endParaRPr lang="en-US" sz="1700" dirty="0"/>
          </a:p>
        </p:txBody>
      </p:sp>
      <p:sp>
        <p:nvSpPr>
          <p:cNvPr id="6" name="Shape 4"/>
          <p:cNvSpPr/>
          <p:nvPr/>
        </p:nvSpPr>
        <p:spPr>
          <a:xfrm>
            <a:off x="457200" y="2148840"/>
            <a:ext cx="3657600" cy="1920240"/>
          </a:xfrm>
          <a:prstGeom prst="rect">
            <a:avLst/>
          </a:prstGeom>
          <a:solidFill>
            <a:srgbClr val="F5F7F2"/>
          </a:solidFill>
          <a:ln w="12700">
            <a:solidFill>
              <a:srgbClr val="5B8CB0"/>
            </a:solidFill>
            <a:prstDash val="solid"/>
          </a:ln>
        </p:spPr>
      </p:sp>
      <p:sp>
        <p:nvSpPr>
          <p:cNvPr id="7" name="Text 5"/>
          <p:cNvSpPr/>
          <p:nvPr/>
        </p:nvSpPr>
        <p:spPr>
          <a:xfrm>
            <a:off x="640080" y="2286000"/>
            <a:ext cx="3291840" cy="17373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3 channels, 224×224</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ResNet50 (in_chans=3)</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ImageNet normalization</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Baseline — no spectral encoder</a:t>
            </a:r>
            <a:endParaRPr lang="en-US" sz="1300" dirty="0"/>
          </a:p>
        </p:txBody>
      </p:sp>
      <p:sp>
        <p:nvSpPr>
          <p:cNvPr id="8" name="Shape 6"/>
          <p:cNvSpPr/>
          <p:nvPr/>
        </p:nvSpPr>
        <p:spPr>
          <a:xfrm>
            <a:off x="4361688" y="1371600"/>
            <a:ext cx="3657600" cy="777240"/>
          </a:xfrm>
          <a:prstGeom prst="rect">
            <a:avLst/>
          </a:prstGeom>
          <a:solidFill>
            <a:srgbClr val="97BC62"/>
          </a:solidFill>
          <a:ln w="12700">
            <a:solidFill>
              <a:srgbClr val="97BC62"/>
            </a:solidFill>
            <a:prstDash val="solid"/>
          </a:ln>
        </p:spPr>
      </p:sp>
      <p:sp>
        <p:nvSpPr>
          <p:cNvPr id="9" name="Text 7"/>
          <p:cNvSpPr/>
          <p:nvPr/>
        </p:nvSpPr>
        <p:spPr>
          <a:xfrm>
            <a:off x="4361688" y="1371600"/>
            <a:ext cx="365760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Model B</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RGB + MS</a:t>
            </a:r>
            <a:endParaRPr lang="en-US" sz="1700" dirty="0"/>
          </a:p>
        </p:txBody>
      </p:sp>
      <p:sp>
        <p:nvSpPr>
          <p:cNvPr id="10" name="Shape 8"/>
          <p:cNvSpPr/>
          <p:nvPr/>
        </p:nvSpPr>
        <p:spPr>
          <a:xfrm>
            <a:off x="4361688" y="2148840"/>
            <a:ext cx="3657600" cy="1920240"/>
          </a:xfrm>
          <a:prstGeom prst="rect">
            <a:avLst/>
          </a:prstGeom>
          <a:solidFill>
            <a:srgbClr val="F5F7F2"/>
          </a:solidFill>
          <a:ln w="12700">
            <a:solidFill>
              <a:srgbClr val="97BC62"/>
            </a:solidFill>
            <a:prstDash val="solid"/>
          </a:ln>
        </p:spPr>
      </p:sp>
      <p:sp>
        <p:nvSpPr>
          <p:cNvPr id="11" name="Text 9"/>
          <p:cNvSpPr/>
          <p:nvPr/>
        </p:nvSpPr>
        <p:spPr>
          <a:xfrm>
            <a:off x="4544568" y="2286000"/>
            <a:ext cx="3291840" cy="17373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8 channels (3 RGB + 5 MS)</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ResNet50 (in_chans=8)</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MS: z-score per band</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MS upsampled to 224×224</a:t>
            </a:r>
            <a:endParaRPr lang="en-US" sz="1300" dirty="0"/>
          </a:p>
        </p:txBody>
      </p:sp>
      <p:sp>
        <p:nvSpPr>
          <p:cNvPr id="12" name="Shape 10"/>
          <p:cNvSpPr/>
          <p:nvPr/>
        </p:nvSpPr>
        <p:spPr>
          <a:xfrm>
            <a:off x="8266176" y="1371600"/>
            <a:ext cx="3657600" cy="777240"/>
          </a:xfrm>
          <a:prstGeom prst="rect">
            <a:avLst/>
          </a:prstGeom>
          <a:solidFill>
            <a:srgbClr val="2C5F2D"/>
          </a:solidFill>
          <a:ln w="12700">
            <a:solidFill>
              <a:srgbClr val="2C5F2D"/>
            </a:solidFill>
            <a:prstDash val="solid"/>
          </a:ln>
        </p:spPr>
      </p:sp>
      <p:sp>
        <p:nvSpPr>
          <p:cNvPr id="13" name="Text 11"/>
          <p:cNvSpPr/>
          <p:nvPr/>
        </p:nvSpPr>
        <p:spPr>
          <a:xfrm>
            <a:off x="8266176" y="1371600"/>
            <a:ext cx="365760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Model C</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RGB + MS + HS</a:t>
            </a:r>
            <a:endParaRPr lang="en-US" sz="1700" dirty="0"/>
          </a:p>
        </p:txBody>
      </p:sp>
      <p:sp>
        <p:nvSpPr>
          <p:cNvPr id="14" name="Shape 12"/>
          <p:cNvSpPr/>
          <p:nvPr/>
        </p:nvSpPr>
        <p:spPr>
          <a:xfrm>
            <a:off x="8266176" y="2148840"/>
            <a:ext cx="3657600" cy="1920240"/>
          </a:xfrm>
          <a:prstGeom prst="rect">
            <a:avLst/>
          </a:prstGeom>
          <a:solidFill>
            <a:srgbClr val="F5F7F2"/>
          </a:solidFill>
          <a:ln w="12700">
            <a:solidFill>
              <a:srgbClr val="2C5F2D"/>
            </a:solidFill>
            <a:prstDash val="solid"/>
          </a:ln>
        </p:spPr>
      </p:sp>
      <p:sp>
        <p:nvSpPr>
          <p:cNvPr id="15" name="Text 13"/>
          <p:cNvSpPr/>
          <p:nvPr/>
        </p:nvSpPr>
        <p:spPr>
          <a:xfrm>
            <a:off x="8449056" y="2286000"/>
            <a:ext cx="3291840" cy="17373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24 channels (8 + 16 encoded)</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ResNet50 (in_chans=24)</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HS: spectral encoder → 16 ch</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~10K extra parameters</a:t>
            </a:r>
            <a:endParaRPr lang="en-US" sz="1300" dirty="0"/>
          </a:p>
        </p:txBody>
      </p:sp>
      <p:sp>
        <p:nvSpPr>
          <p:cNvPr id="16" name="Shape 14"/>
          <p:cNvSpPr/>
          <p:nvPr/>
        </p:nvSpPr>
        <p:spPr>
          <a:xfrm>
            <a:off x="457200" y="4251960"/>
            <a:ext cx="11247120" cy="1965960"/>
          </a:xfrm>
          <a:prstGeom prst="rect">
            <a:avLst/>
          </a:prstGeom>
          <a:solidFill>
            <a:srgbClr val="F5F7F2"/>
          </a:solidFill>
          <a:ln w="12700">
            <a:solidFill>
              <a:srgbClr val="2C5F2D"/>
            </a:solidFill>
            <a:prstDash val="solid"/>
          </a:ln>
        </p:spPr>
      </p:sp>
      <p:sp>
        <p:nvSpPr>
          <p:cNvPr id="17" name="Text 15"/>
          <p:cNvSpPr/>
          <p:nvPr/>
        </p:nvSpPr>
        <p:spPr>
          <a:xfrm>
            <a:off x="640080" y="4370832"/>
            <a:ext cx="10881360" cy="365760"/>
          </a:xfrm>
          <a:prstGeom prst="rect">
            <a:avLst/>
          </a:prstGeom>
          <a:noFill/>
          <a:ln/>
        </p:spPr>
        <p:txBody>
          <a:bodyPr wrap="square" lIns="0" tIns="0" rIns="0" bIns="0" rtlCol="0" anchor="ctr"/>
          <a:lstStyle/>
          <a:p>
            <a:pPr indent="0" marL="0">
              <a:buNone/>
            </a:pPr>
            <a:r>
              <a:rPr lang="en-US" sz="1600" b="1" dirty="0">
                <a:solidFill>
                  <a:srgbClr val="2C5F2D"/>
                </a:solidFill>
                <a:latin typeface="Calibri" pitchFamily="34" charset="0"/>
                <a:ea typeface="Calibri" pitchFamily="34" charset="-122"/>
                <a:cs typeface="Calibri" pitchFamily="34" charset="-120"/>
              </a:rPr>
              <a:t>The HS Spectral Encoder — the novel component</a:t>
            </a:r>
            <a:endParaRPr lang="en-US" sz="1600" dirty="0"/>
          </a:p>
        </p:txBody>
      </p:sp>
      <p:sp>
        <p:nvSpPr>
          <p:cNvPr id="18" name="Text 16"/>
          <p:cNvSpPr/>
          <p:nvPr/>
        </p:nvSpPr>
        <p:spPr>
          <a:xfrm>
            <a:off x="640080" y="4800600"/>
            <a:ext cx="10881360" cy="1417320"/>
          </a:xfrm>
          <a:prstGeom prst="rect">
            <a:avLst/>
          </a:prstGeom>
          <a:noFill/>
          <a:ln/>
        </p:spPr>
        <p:txBody>
          <a:bodyPr wrap="square" lIns="0" tIns="0" rIns="0" bIns="0" rtlCol="0" anchor="t"/>
          <a:lstStyle/>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Input: (B, 125, 32, 32) — 125 HS bands at 32×32 spatial resolution</a:t>
            </a:r>
            <a:endParaRPr lang="en-US" sz="1300" dirty="0"/>
          </a:p>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1×1 Conv1d along spectral axis: 125 → 64 → 16 channels. Each pixel's 125-band spectral sequence is compressed independently.</a:t>
            </a:r>
            <a:endParaRPr lang="en-US" sz="1300" dirty="0"/>
          </a:p>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Bilinear upsample 32×32 → 224×224 to align with RGB and MS.</a:t>
            </a:r>
            <a:endParaRPr lang="en-US" sz="1300" dirty="0"/>
          </a:p>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Output: (B, 16, 224, 224) concatenated with RGB+MS (8 ch) → 24-channel input. Adds only ~10K parameters.</a:t>
            </a:r>
            <a:endParaRPr lang="en-US" sz="1300" dirty="0"/>
          </a:p>
        </p:txBody>
      </p:sp>
      <p:sp>
        <p:nvSpPr>
          <p:cNvPr id="20" name="Text 17"/>
          <p:cNvSpPr/>
          <p:nvPr/>
        </p:nvSpPr>
        <p:spPr>
          <a:xfrm>
            <a:off x="457200" y="6446520"/>
            <a:ext cx="73152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Wheat Disease Classification  |  Spring 2026</a:t>
            </a:r>
            <a:endParaRPr lang="en-US" sz="1000" dirty="0"/>
          </a:p>
        </p:txBody>
      </p:sp>
      <p:sp>
        <p:nvSpPr>
          <p:cNvPr id="21" name="Text 18"/>
          <p:cNvSpPr/>
          <p:nvPr/>
        </p:nvSpPr>
        <p:spPr>
          <a:xfrm>
            <a:off x="11430000" y="644652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indent="0" marL="0">
              <a:buNone/>
            </a:pPr>
            <a:r>
              <a:rPr lang="en-US" sz="3200" b="1" dirty="0">
                <a:solidFill>
                  <a:srgbClr val="2C5F2D"/>
                </a:solidFill>
                <a:latin typeface="Calibri" pitchFamily="34" charset="0"/>
                <a:ea typeface="Calibri" pitchFamily="34" charset="-122"/>
                <a:cs typeface="Calibri" pitchFamily="34" charset="-120"/>
              </a:rPr>
              <a:t>Results: Each Modality Helps, Monotonically</a:t>
            </a:r>
            <a:endParaRPr lang="en-US" sz="3200" dirty="0"/>
          </a:p>
        </p:txBody>
      </p:sp>
      <p:sp>
        <p:nvSpPr>
          <p:cNvPr id="3" name="Shape 1"/>
          <p:cNvSpPr/>
          <p:nvPr/>
        </p:nvSpPr>
        <p:spPr>
          <a:xfrm>
            <a:off x="457200" y="960120"/>
            <a:ext cx="548640" cy="54864"/>
          </a:xfrm>
          <a:prstGeom prst="rect">
            <a:avLst/>
          </a:prstGeom>
          <a:solidFill>
            <a:srgbClr val="97BC62"/>
          </a:solidFill>
          <a:ln w="12700">
            <a:solidFill>
              <a:srgbClr val="97BC62"/>
            </a:solidFill>
            <a:prstDash val="solid"/>
          </a:ln>
        </p:spPr>
      </p:sp>
      <p:pic>
        <p:nvPicPr>
          <p:cNvPr id="4" name="Image 0" descr="/home/claude/submission/figures/fig5_per_class_progression.png">    </p:cNvPr>
          <p:cNvPicPr>
            <a:picLocks noChangeAspect="1"/>
          </p:cNvPicPr>
          <p:nvPr/>
        </p:nvPicPr>
        <p:blipFill>
          <a:blip r:embed="rId1"/>
          <a:stretch>
            <a:fillRect/>
          </a:stretch>
        </p:blipFill>
        <p:spPr>
          <a:xfrm>
            <a:off x="457200" y="1371600"/>
            <a:ext cx="6858000" cy="3840480"/>
          </a:xfrm>
          <a:prstGeom prst="rect">
            <a:avLst/>
          </a:prstGeom>
        </p:spPr>
      </p:pic>
      <p:sp>
        <p:nvSpPr>
          <p:cNvPr id="5" name="Text 2"/>
          <p:cNvSpPr/>
          <p:nvPr/>
        </p:nvSpPr>
        <p:spPr>
          <a:xfrm>
            <a:off x="457200" y="5212080"/>
            <a:ext cx="6858000" cy="274320"/>
          </a:xfrm>
          <a:prstGeom prst="rect">
            <a:avLst/>
          </a:prstGeom>
          <a:noFill/>
          <a:ln/>
        </p:spPr>
        <p:txBody>
          <a:bodyPr wrap="square" lIns="0" tIns="0" rIns="0" bIns="0"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Per-class F1 across three modality configurations (out-of-fold, n=600)</a:t>
            </a:r>
            <a:endParaRPr lang="en-US" sz="1100" dirty="0"/>
          </a:p>
        </p:txBody>
      </p:sp>
      <p:sp>
        <p:nvSpPr>
          <p:cNvPr id="6" name="Shape 3"/>
          <p:cNvSpPr/>
          <p:nvPr/>
        </p:nvSpPr>
        <p:spPr>
          <a:xfrm>
            <a:off x="7680960" y="1371600"/>
            <a:ext cx="4114800" cy="1280160"/>
          </a:xfrm>
          <a:prstGeom prst="rect">
            <a:avLst/>
          </a:prstGeom>
          <a:solidFill>
            <a:srgbClr val="FFFFFF"/>
          </a:solidFill>
          <a:ln w="25400">
            <a:solidFill>
              <a:srgbClr val="5B8CB0"/>
            </a:solidFill>
            <a:prstDash val="solid"/>
          </a:ln>
        </p:spPr>
      </p:sp>
      <p:sp>
        <p:nvSpPr>
          <p:cNvPr id="7" name="Shape 4"/>
          <p:cNvSpPr/>
          <p:nvPr/>
        </p:nvSpPr>
        <p:spPr>
          <a:xfrm>
            <a:off x="7680960" y="1371600"/>
            <a:ext cx="137160" cy="1280160"/>
          </a:xfrm>
          <a:prstGeom prst="rect">
            <a:avLst/>
          </a:prstGeom>
          <a:solidFill>
            <a:srgbClr val="5B8CB0"/>
          </a:solidFill>
          <a:ln w="12700">
            <a:solidFill>
              <a:srgbClr val="5B8CB0"/>
            </a:solidFill>
            <a:prstDash val="solid"/>
          </a:ln>
        </p:spPr>
      </p:sp>
      <p:sp>
        <p:nvSpPr>
          <p:cNvPr id="8" name="Text 5"/>
          <p:cNvSpPr/>
          <p:nvPr/>
        </p:nvSpPr>
        <p:spPr>
          <a:xfrm>
            <a:off x="7955280" y="1444752"/>
            <a:ext cx="3657600" cy="320040"/>
          </a:xfrm>
          <a:prstGeom prst="rect">
            <a:avLst/>
          </a:prstGeom>
          <a:noFill/>
          <a:ln/>
        </p:spPr>
        <p:txBody>
          <a:bodyPr wrap="square" lIns="0" tIns="0" rIns="0" bIns="0" rtlCol="0" anchor="ctr"/>
          <a:lstStyle/>
          <a:p>
            <a:pPr indent="0" marL="0">
              <a:buNone/>
            </a:pPr>
            <a:r>
              <a:rPr lang="en-US" sz="1300" b="1" dirty="0">
                <a:solidFill>
                  <a:srgbClr val="5B8CB0"/>
                </a:solidFill>
                <a:latin typeface="Calibri" pitchFamily="34" charset="0"/>
                <a:ea typeface="Calibri" pitchFamily="34" charset="-122"/>
                <a:cs typeface="Calibri" pitchFamily="34" charset="-120"/>
              </a:rPr>
              <a:t>Model A — RGB</a:t>
            </a:r>
            <a:endParaRPr lang="en-US" sz="1300" dirty="0"/>
          </a:p>
        </p:txBody>
      </p:sp>
      <p:sp>
        <p:nvSpPr>
          <p:cNvPr id="9" name="Text 6"/>
          <p:cNvSpPr/>
          <p:nvPr/>
        </p:nvSpPr>
        <p:spPr>
          <a:xfrm>
            <a:off x="7955280" y="1810512"/>
            <a:ext cx="3657600" cy="365760"/>
          </a:xfrm>
          <a:prstGeom prst="rect">
            <a:avLst/>
          </a:prstGeom>
          <a:noFill/>
          <a:ln/>
        </p:spPr>
        <p:txBody>
          <a:bodyPr wrap="square" lIns="0" tIns="0" rIns="0" bIns="0" rtlCol="0" anchor="ctr"/>
          <a:lstStyle/>
          <a:p>
            <a:pPr indent="0" marL="0">
              <a:buNone/>
            </a:pPr>
            <a:r>
              <a:rPr lang="en-US" sz="1800" b="1" dirty="0">
                <a:solidFill>
                  <a:srgbClr val="1F2937"/>
                </a:solidFill>
                <a:latin typeface="Calibri" pitchFamily="34" charset="0"/>
                <a:ea typeface="Calibri" pitchFamily="34" charset="-122"/>
                <a:cs typeface="Calibri" pitchFamily="34" charset="-120"/>
              </a:rPr>
              <a:t>Public: 0.505   Private: 0.624</a:t>
            </a:r>
            <a:endParaRPr lang="en-US" sz="1800" dirty="0"/>
          </a:p>
        </p:txBody>
      </p:sp>
      <p:sp>
        <p:nvSpPr>
          <p:cNvPr id="10" name="Text 7"/>
          <p:cNvSpPr/>
          <p:nvPr/>
        </p:nvSpPr>
        <p:spPr>
          <a:xfrm>
            <a:off x="7955280" y="2240280"/>
            <a:ext cx="3657600" cy="32004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CV accuracy: 0.598</a:t>
            </a:r>
            <a:endParaRPr lang="en-US" sz="1200" dirty="0"/>
          </a:p>
        </p:txBody>
      </p:sp>
      <p:sp>
        <p:nvSpPr>
          <p:cNvPr id="11" name="Shape 8"/>
          <p:cNvSpPr/>
          <p:nvPr/>
        </p:nvSpPr>
        <p:spPr>
          <a:xfrm>
            <a:off x="7680960" y="2788920"/>
            <a:ext cx="4114800" cy="1280160"/>
          </a:xfrm>
          <a:prstGeom prst="rect">
            <a:avLst/>
          </a:prstGeom>
          <a:solidFill>
            <a:srgbClr val="FFFFFF"/>
          </a:solidFill>
          <a:ln w="25400">
            <a:solidFill>
              <a:srgbClr val="97BC62"/>
            </a:solidFill>
            <a:prstDash val="solid"/>
          </a:ln>
        </p:spPr>
      </p:sp>
      <p:sp>
        <p:nvSpPr>
          <p:cNvPr id="12" name="Shape 9"/>
          <p:cNvSpPr/>
          <p:nvPr/>
        </p:nvSpPr>
        <p:spPr>
          <a:xfrm>
            <a:off x="7680960" y="2788920"/>
            <a:ext cx="137160" cy="1280160"/>
          </a:xfrm>
          <a:prstGeom prst="rect">
            <a:avLst/>
          </a:prstGeom>
          <a:solidFill>
            <a:srgbClr val="97BC62"/>
          </a:solidFill>
          <a:ln w="12700">
            <a:solidFill>
              <a:srgbClr val="97BC62"/>
            </a:solidFill>
            <a:prstDash val="solid"/>
          </a:ln>
        </p:spPr>
      </p:sp>
      <p:sp>
        <p:nvSpPr>
          <p:cNvPr id="13" name="Text 10"/>
          <p:cNvSpPr/>
          <p:nvPr/>
        </p:nvSpPr>
        <p:spPr>
          <a:xfrm>
            <a:off x="7955280" y="2862072"/>
            <a:ext cx="3657600" cy="320040"/>
          </a:xfrm>
          <a:prstGeom prst="rect">
            <a:avLst/>
          </a:prstGeom>
          <a:noFill/>
          <a:ln/>
        </p:spPr>
        <p:txBody>
          <a:bodyPr wrap="square" lIns="0" tIns="0" rIns="0" bIns="0" rtlCol="0" anchor="ctr"/>
          <a:lstStyle/>
          <a:p>
            <a:pPr indent="0" marL="0">
              <a:buNone/>
            </a:pPr>
            <a:r>
              <a:rPr lang="en-US" sz="1300" b="1" dirty="0">
                <a:solidFill>
                  <a:srgbClr val="97BC62"/>
                </a:solidFill>
                <a:latin typeface="Calibri" pitchFamily="34" charset="0"/>
                <a:ea typeface="Calibri" pitchFamily="34" charset="-122"/>
                <a:cs typeface="Calibri" pitchFamily="34" charset="-120"/>
              </a:rPr>
              <a:t>Model B — RGB + MS</a:t>
            </a:r>
            <a:endParaRPr lang="en-US" sz="1300" dirty="0"/>
          </a:p>
        </p:txBody>
      </p:sp>
      <p:sp>
        <p:nvSpPr>
          <p:cNvPr id="14" name="Text 11"/>
          <p:cNvSpPr/>
          <p:nvPr/>
        </p:nvSpPr>
        <p:spPr>
          <a:xfrm>
            <a:off x="7955280" y="3227832"/>
            <a:ext cx="3657600" cy="365760"/>
          </a:xfrm>
          <a:prstGeom prst="rect">
            <a:avLst/>
          </a:prstGeom>
          <a:noFill/>
          <a:ln/>
        </p:spPr>
        <p:txBody>
          <a:bodyPr wrap="square" lIns="0" tIns="0" rIns="0" bIns="0" rtlCol="0" anchor="ctr"/>
          <a:lstStyle/>
          <a:p>
            <a:pPr indent="0" marL="0">
              <a:buNone/>
            </a:pPr>
            <a:r>
              <a:rPr lang="en-US" sz="1800" b="1" dirty="0">
                <a:solidFill>
                  <a:srgbClr val="1F2937"/>
                </a:solidFill>
                <a:latin typeface="Calibri" pitchFamily="34" charset="0"/>
                <a:ea typeface="Calibri" pitchFamily="34" charset="-122"/>
                <a:cs typeface="Calibri" pitchFamily="34" charset="-120"/>
              </a:rPr>
              <a:t>Public: 0.632   Private: 0.649</a:t>
            </a:r>
            <a:endParaRPr lang="en-US" sz="1800" dirty="0"/>
          </a:p>
        </p:txBody>
      </p:sp>
      <p:sp>
        <p:nvSpPr>
          <p:cNvPr id="15" name="Text 12"/>
          <p:cNvSpPr/>
          <p:nvPr/>
        </p:nvSpPr>
        <p:spPr>
          <a:xfrm>
            <a:off x="7955280" y="3657600"/>
            <a:ext cx="3657600" cy="32004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CV accuracy: 0.640</a:t>
            </a:r>
            <a:endParaRPr lang="en-US" sz="1200" dirty="0"/>
          </a:p>
        </p:txBody>
      </p:sp>
      <p:sp>
        <p:nvSpPr>
          <p:cNvPr id="16" name="Shape 13"/>
          <p:cNvSpPr/>
          <p:nvPr/>
        </p:nvSpPr>
        <p:spPr>
          <a:xfrm>
            <a:off x="7680960" y="4206240"/>
            <a:ext cx="4114800" cy="1280160"/>
          </a:xfrm>
          <a:prstGeom prst="rect">
            <a:avLst/>
          </a:prstGeom>
          <a:solidFill>
            <a:srgbClr val="FFFFFF"/>
          </a:solidFill>
          <a:ln w="25400">
            <a:solidFill>
              <a:srgbClr val="2C5F2D"/>
            </a:solidFill>
            <a:prstDash val="solid"/>
          </a:ln>
        </p:spPr>
      </p:sp>
      <p:sp>
        <p:nvSpPr>
          <p:cNvPr id="17" name="Shape 14"/>
          <p:cNvSpPr/>
          <p:nvPr/>
        </p:nvSpPr>
        <p:spPr>
          <a:xfrm>
            <a:off x="7680960" y="4206240"/>
            <a:ext cx="137160" cy="1280160"/>
          </a:xfrm>
          <a:prstGeom prst="rect">
            <a:avLst/>
          </a:prstGeom>
          <a:solidFill>
            <a:srgbClr val="2C5F2D"/>
          </a:solidFill>
          <a:ln w="12700">
            <a:solidFill>
              <a:srgbClr val="2C5F2D"/>
            </a:solidFill>
            <a:prstDash val="solid"/>
          </a:ln>
        </p:spPr>
      </p:sp>
      <p:sp>
        <p:nvSpPr>
          <p:cNvPr id="18" name="Text 15"/>
          <p:cNvSpPr/>
          <p:nvPr/>
        </p:nvSpPr>
        <p:spPr>
          <a:xfrm>
            <a:off x="7955280" y="4279392"/>
            <a:ext cx="3657600" cy="32004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Model C — RGB + MS + HS</a:t>
            </a:r>
            <a:endParaRPr lang="en-US" sz="1300" dirty="0"/>
          </a:p>
        </p:txBody>
      </p:sp>
      <p:sp>
        <p:nvSpPr>
          <p:cNvPr id="19" name="Text 16"/>
          <p:cNvSpPr/>
          <p:nvPr/>
        </p:nvSpPr>
        <p:spPr>
          <a:xfrm>
            <a:off x="7955280" y="4645152"/>
            <a:ext cx="3657600" cy="365760"/>
          </a:xfrm>
          <a:prstGeom prst="rect">
            <a:avLst/>
          </a:prstGeom>
          <a:noFill/>
          <a:ln/>
        </p:spPr>
        <p:txBody>
          <a:bodyPr wrap="square" lIns="0" tIns="0" rIns="0" bIns="0" rtlCol="0" anchor="ctr"/>
          <a:lstStyle/>
          <a:p>
            <a:pPr indent="0" marL="0">
              <a:buNone/>
            </a:pPr>
            <a:r>
              <a:rPr lang="en-US" sz="1800" b="1" dirty="0">
                <a:solidFill>
                  <a:srgbClr val="1F2937"/>
                </a:solidFill>
                <a:latin typeface="Calibri" pitchFamily="34" charset="0"/>
                <a:ea typeface="Calibri" pitchFamily="34" charset="-122"/>
                <a:cs typeface="Calibri" pitchFamily="34" charset="-120"/>
              </a:rPr>
              <a:t>Public: 0.684   Private: 0.722</a:t>
            </a:r>
            <a:endParaRPr lang="en-US" sz="1800" dirty="0"/>
          </a:p>
        </p:txBody>
      </p:sp>
      <p:sp>
        <p:nvSpPr>
          <p:cNvPr id="20" name="Text 17"/>
          <p:cNvSpPr/>
          <p:nvPr/>
        </p:nvSpPr>
        <p:spPr>
          <a:xfrm>
            <a:off x="7955280" y="5074920"/>
            <a:ext cx="3657600" cy="32004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CV accuracy: 0.673</a:t>
            </a:r>
            <a:endParaRPr lang="en-US" sz="1200" dirty="0"/>
          </a:p>
        </p:txBody>
      </p:sp>
      <p:sp>
        <p:nvSpPr>
          <p:cNvPr id="21" name="Shape 18"/>
          <p:cNvSpPr/>
          <p:nvPr/>
        </p:nvSpPr>
        <p:spPr>
          <a:xfrm>
            <a:off x="457200" y="5715000"/>
            <a:ext cx="11247120" cy="502920"/>
          </a:xfrm>
          <a:prstGeom prst="rect">
            <a:avLst/>
          </a:prstGeom>
          <a:solidFill>
            <a:srgbClr val="2C5F2D"/>
          </a:solidFill>
          <a:ln w="12700">
            <a:solidFill>
              <a:srgbClr val="2C5F2D"/>
            </a:solidFill>
            <a:prstDash val="solid"/>
          </a:ln>
        </p:spPr>
      </p:sp>
      <p:sp>
        <p:nvSpPr>
          <p:cNvPr id="22" name="Text 19"/>
          <p:cNvSpPr/>
          <p:nvPr/>
        </p:nvSpPr>
        <p:spPr>
          <a:xfrm>
            <a:off x="640080" y="5715000"/>
            <a:ext cx="1088136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Health F1: 0.309 → 0.357 → 0.429  (+12 pp) — the class Figure 2 predicted to be hardest for RGB</a:t>
            </a:r>
            <a:endParaRPr lang="en-US" sz="1400" dirty="0"/>
          </a:p>
        </p:txBody>
      </p:sp>
      <p:sp>
        <p:nvSpPr>
          <p:cNvPr id="24" name="Text 20"/>
          <p:cNvSpPr/>
          <p:nvPr/>
        </p:nvSpPr>
        <p:spPr>
          <a:xfrm>
            <a:off x="457200" y="6446520"/>
            <a:ext cx="73152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Wheat Disease Classification  |  Spring 2026</a:t>
            </a:r>
            <a:endParaRPr lang="en-US" sz="1000" dirty="0"/>
          </a:p>
        </p:txBody>
      </p:sp>
      <p:sp>
        <p:nvSpPr>
          <p:cNvPr id="25" name="Text 21"/>
          <p:cNvSpPr/>
          <p:nvPr/>
        </p:nvSpPr>
        <p:spPr>
          <a:xfrm>
            <a:off x="11430000" y="644652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indent="0" marL="0">
              <a:buNone/>
            </a:pPr>
            <a:r>
              <a:rPr lang="en-US" sz="3200" b="1" dirty="0">
                <a:solidFill>
                  <a:srgbClr val="2C5F2D"/>
                </a:solidFill>
                <a:latin typeface="Calibri" pitchFamily="34" charset="0"/>
                <a:ea typeface="Calibri" pitchFamily="34" charset="-122"/>
                <a:cs typeface="Calibri" pitchFamily="34" charset="-120"/>
              </a:rPr>
              <a:t>The Failure Mode — and How It Shrinks</a:t>
            </a:r>
            <a:endParaRPr lang="en-US" sz="3200" dirty="0"/>
          </a:p>
        </p:txBody>
      </p:sp>
      <p:sp>
        <p:nvSpPr>
          <p:cNvPr id="3" name="Shape 1"/>
          <p:cNvSpPr/>
          <p:nvPr/>
        </p:nvSpPr>
        <p:spPr>
          <a:xfrm>
            <a:off x="457200" y="960120"/>
            <a:ext cx="548640" cy="54864"/>
          </a:xfrm>
          <a:prstGeom prst="rect">
            <a:avLst/>
          </a:prstGeom>
          <a:solidFill>
            <a:srgbClr val="97BC62"/>
          </a:solidFill>
          <a:ln w="12700">
            <a:solidFill>
              <a:srgbClr val="97BC62"/>
            </a:solidFill>
            <a:prstDash val="solid"/>
          </a:ln>
        </p:spPr>
      </p:sp>
      <p:sp>
        <p:nvSpPr>
          <p:cNvPr id="4" name="Text 2"/>
          <p:cNvSpPr/>
          <p:nvPr/>
        </p:nvSpPr>
        <p:spPr>
          <a:xfrm>
            <a:off x="457200" y="1234440"/>
            <a:ext cx="11247120" cy="4572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Same training data, same backbone, same optimizer. Only the input changes. All 600 training samples predicted out-of-fold.</a:t>
            </a:r>
            <a:endParaRPr lang="en-US" sz="1300" dirty="0"/>
          </a:p>
        </p:txBody>
      </p:sp>
      <p:pic>
        <p:nvPicPr>
          <p:cNvPr id="5" name="Image 0" descr="/home/claude/submission/figures/fig3_rgb_confusion.png">    </p:cNvPr>
          <p:cNvPicPr>
            <a:picLocks noChangeAspect="1"/>
          </p:cNvPicPr>
          <p:nvPr/>
        </p:nvPicPr>
        <p:blipFill>
          <a:blip r:embed="rId1"/>
          <a:stretch>
            <a:fillRect/>
          </a:stretch>
        </p:blipFill>
        <p:spPr>
          <a:xfrm>
            <a:off x="365760" y="1828800"/>
            <a:ext cx="3566160" cy="3017520"/>
          </a:xfrm>
          <a:prstGeom prst="rect">
            <a:avLst/>
          </a:prstGeom>
        </p:spPr>
      </p:pic>
      <p:sp>
        <p:nvSpPr>
          <p:cNvPr id="6" name="Text 3"/>
          <p:cNvSpPr/>
          <p:nvPr/>
        </p:nvSpPr>
        <p:spPr>
          <a:xfrm>
            <a:off x="365760" y="4846320"/>
            <a:ext cx="3566160" cy="365760"/>
          </a:xfrm>
          <a:prstGeom prst="rect">
            <a:avLst/>
          </a:prstGeom>
          <a:noFill/>
          <a:ln/>
        </p:spPr>
        <p:txBody>
          <a:bodyPr wrap="square" lIns="0" tIns="0" rIns="0" bIns="0" rtlCol="0" anchor="ctr"/>
          <a:lstStyle/>
          <a:p>
            <a:pPr algn="ctr" indent="0" marL="0">
              <a:buNone/>
            </a:pPr>
            <a:r>
              <a:rPr lang="en-US" sz="1400" b="1" dirty="0">
                <a:solidFill>
                  <a:srgbClr val="5B8CB0"/>
                </a:solidFill>
                <a:latin typeface="Calibri" pitchFamily="34" charset="0"/>
                <a:ea typeface="Calibri" pitchFamily="34" charset="-122"/>
                <a:cs typeface="Calibri" pitchFamily="34" charset="-120"/>
              </a:rPr>
              <a:t>(a) Model A — RGB only</a:t>
            </a:r>
            <a:endParaRPr lang="en-US" sz="1400" dirty="0"/>
          </a:p>
        </p:txBody>
      </p:sp>
      <p:pic>
        <p:nvPicPr>
          <p:cNvPr id="7" name="Image 1" descr="/home/claude/submission/figures/fig3_mm_confusion.png">    </p:cNvPr>
          <p:cNvPicPr>
            <a:picLocks noChangeAspect="1"/>
          </p:cNvPicPr>
          <p:nvPr/>
        </p:nvPicPr>
        <p:blipFill>
          <a:blip r:embed="rId2"/>
          <a:stretch>
            <a:fillRect/>
          </a:stretch>
        </p:blipFill>
        <p:spPr>
          <a:xfrm>
            <a:off x="4297680" y="1828800"/>
            <a:ext cx="3566160" cy="3017520"/>
          </a:xfrm>
          <a:prstGeom prst="rect">
            <a:avLst/>
          </a:prstGeom>
        </p:spPr>
      </p:pic>
      <p:sp>
        <p:nvSpPr>
          <p:cNvPr id="8" name="Text 4"/>
          <p:cNvSpPr/>
          <p:nvPr/>
        </p:nvSpPr>
        <p:spPr>
          <a:xfrm>
            <a:off x="4297680" y="4846320"/>
            <a:ext cx="3566160" cy="365760"/>
          </a:xfrm>
          <a:prstGeom prst="rect">
            <a:avLst/>
          </a:prstGeom>
          <a:noFill/>
          <a:ln/>
        </p:spPr>
        <p:txBody>
          <a:bodyPr wrap="square" lIns="0" tIns="0" rIns="0" bIns="0" rtlCol="0" anchor="ctr"/>
          <a:lstStyle/>
          <a:p>
            <a:pPr algn="ctr" indent="0" marL="0">
              <a:buNone/>
            </a:pPr>
            <a:r>
              <a:rPr lang="en-US" sz="1400" b="1" dirty="0">
                <a:solidFill>
                  <a:srgbClr val="97BC62"/>
                </a:solidFill>
                <a:latin typeface="Calibri" pitchFamily="34" charset="0"/>
                <a:ea typeface="Calibri" pitchFamily="34" charset="-122"/>
                <a:cs typeface="Calibri" pitchFamily="34" charset="-120"/>
              </a:rPr>
              <a:t>(b) Model B — RGB + MS</a:t>
            </a:r>
            <a:endParaRPr lang="en-US" sz="1400" dirty="0"/>
          </a:p>
        </p:txBody>
      </p:sp>
      <p:pic>
        <p:nvPicPr>
          <p:cNvPr id="9" name="Image 2" descr="/home/claude/submission/figures/fig3_tri_confusion.png">    </p:cNvPr>
          <p:cNvPicPr>
            <a:picLocks noChangeAspect="1"/>
          </p:cNvPicPr>
          <p:nvPr/>
        </p:nvPicPr>
        <p:blipFill>
          <a:blip r:embed="rId3"/>
          <a:stretch>
            <a:fillRect/>
          </a:stretch>
        </p:blipFill>
        <p:spPr>
          <a:xfrm>
            <a:off x="8229600" y="1828800"/>
            <a:ext cx="3566160" cy="3017520"/>
          </a:xfrm>
          <a:prstGeom prst="rect">
            <a:avLst/>
          </a:prstGeom>
        </p:spPr>
      </p:pic>
      <p:sp>
        <p:nvSpPr>
          <p:cNvPr id="10" name="Text 5"/>
          <p:cNvSpPr/>
          <p:nvPr/>
        </p:nvSpPr>
        <p:spPr>
          <a:xfrm>
            <a:off x="8229600" y="4846320"/>
            <a:ext cx="3566160" cy="365760"/>
          </a:xfrm>
          <a:prstGeom prst="rect">
            <a:avLst/>
          </a:prstGeom>
          <a:noFill/>
          <a:ln/>
        </p:spPr>
        <p:txBody>
          <a:bodyPr wrap="square" lIns="0" tIns="0" rIns="0" bIns="0" rtlCol="0" anchor="ctr"/>
          <a:lstStyle/>
          <a:p>
            <a:pPr algn="ctr" indent="0" marL="0">
              <a:buNone/>
            </a:pPr>
            <a:r>
              <a:rPr lang="en-US" sz="1400" b="1" dirty="0">
                <a:solidFill>
                  <a:srgbClr val="2C5F2D"/>
                </a:solidFill>
                <a:latin typeface="Calibri" pitchFamily="34" charset="0"/>
                <a:ea typeface="Calibri" pitchFamily="34" charset="-122"/>
                <a:cs typeface="Calibri" pitchFamily="34" charset="-120"/>
              </a:rPr>
              <a:t>(c) Model C — RGB + MS + HS</a:t>
            </a:r>
            <a:endParaRPr lang="en-US" sz="1400" dirty="0"/>
          </a:p>
        </p:txBody>
      </p:sp>
      <p:sp>
        <p:nvSpPr>
          <p:cNvPr id="11" name="Shape 6"/>
          <p:cNvSpPr/>
          <p:nvPr/>
        </p:nvSpPr>
        <p:spPr>
          <a:xfrm>
            <a:off x="457200" y="5440680"/>
            <a:ext cx="11247120" cy="685800"/>
          </a:xfrm>
          <a:prstGeom prst="rect">
            <a:avLst/>
          </a:prstGeom>
          <a:solidFill>
            <a:srgbClr val="FFE9E5"/>
          </a:solidFill>
          <a:ln w="12700">
            <a:solidFill>
              <a:srgbClr val="B85042"/>
            </a:solidFill>
            <a:prstDash val="solid"/>
          </a:ln>
        </p:spPr>
      </p:sp>
      <p:sp>
        <p:nvSpPr>
          <p:cNvPr id="12" name="Text 7"/>
          <p:cNvSpPr/>
          <p:nvPr/>
        </p:nvSpPr>
        <p:spPr>
          <a:xfrm>
            <a:off x="640080" y="5440680"/>
            <a:ext cx="10881360" cy="685800"/>
          </a:xfrm>
          <a:prstGeom prst="rect">
            <a:avLst/>
          </a:prstGeom>
          <a:noFill/>
          <a:ln/>
        </p:spPr>
        <p:txBody>
          <a:bodyPr wrap="square" lIns="0" tIns="0" rIns="0" bIns="0" rtlCol="0" anchor="ctr"/>
          <a:lstStyle/>
          <a:p>
            <a:pPr algn="ctr" indent="0" marL="0">
              <a:buNone/>
            </a:pPr>
            <a:r>
              <a:rPr lang="en-US" sz="1400" dirty="0">
                <a:solidFill>
                  <a:srgbClr val="1F2937"/>
                </a:solidFill>
                <a:latin typeface="Calibri" pitchFamily="34" charset="0"/>
                <a:ea typeface="Calibri" pitchFamily="34" charset="-122"/>
                <a:cs typeface="Calibri" pitchFamily="34" charset="-120"/>
              </a:rPr>
              <a:t>Health predicted as Rust:  </a:t>
            </a:r>
            <a:pPr algn="ctr" indent="0" marL="0">
              <a:buNone/>
            </a:pPr>
            <a:r>
              <a:rPr lang="en-US" sz="2000" b="1" dirty="0">
                <a:solidFill>
                  <a:srgbClr val="5B8CB0"/>
                </a:solidFill>
                <a:latin typeface="Calibri" pitchFamily="34" charset="0"/>
                <a:ea typeface="Calibri" pitchFamily="34" charset="-122"/>
                <a:cs typeface="Calibri" pitchFamily="34" charset="-120"/>
              </a:rPr>
              <a:t>113</a:t>
            </a:r>
            <a:pPr algn="ctr" indent="0" marL="0">
              <a:buNone/>
            </a:pPr>
            <a:r>
              <a:rPr lang="en-US" sz="1400" dirty="0">
                <a:solidFill>
                  <a:srgbClr val="1F2937"/>
                </a:solidFill>
                <a:latin typeface="Calibri" pitchFamily="34" charset="0"/>
                <a:ea typeface="Calibri" pitchFamily="34" charset="-122"/>
                <a:cs typeface="Calibri" pitchFamily="34" charset="-120"/>
              </a:rPr>
              <a:t>  →  </a:t>
            </a:r>
            <a:pPr algn="ctr" indent="0" marL="0">
              <a:buNone/>
            </a:pPr>
            <a:r>
              <a:rPr lang="en-US" sz="2000" b="1" dirty="0">
                <a:solidFill>
                  <a:srgbClr val="97BC62"/>
                </a:solidFill>
                <a:latin typeface="Calibri" pitchFamily="34" charset="0"/>
                <a:ea typeface="Calibri" pitchFamily="34" charset="-122"/>
                <a:cs typeface="Calibri" pitchFamily="34" charset="-120"/>
              </a:rPr>
              <a:t>104</a:t>
            </a:r>
            <a:pPr algn="ctr" indent="0" marL="0">
              <a:buNone/>
            </a:pPr>
            <a:r>
              <a:rPr lang="en-US" sz="1400" dirty="0">
                <a:solidFill>
                  <a:srgbClr val="1F2937"/>
                </a:solidFill>
                <a:latin typeface="Calibri" pitchFamily="34" charset="0"/>
                <a:ea typeface="Calibri" pitchFamily="34" charset="-122"/>
                <a:cs typeface="Calibri" pitchFamily="34" charset="-120"/>
              </a:rPr>
              <a:t>  →  </a:t>
            </a:r>
            <a:pPr algn="ctr" indent="0" marL="0">
              <a:buNone/>
            </a:pPr>
            <a:r>
              <a:rPr lang="en-US" sz="2000" b="1" dirty="0">
                <a:solidFill>
                  <a:srgbClr val="2C5F2D"/>
                </a:solidFill>
                <a:latin typeface="Calibri" pitchFamily="34" charset="0"/>
                <a:ea typeface="Calibri" pitchFamily="34" charset="-122"/>
                <a:cs typeface="Calibri" pitchFamily="34" charset="-120"/>
              </a:rPr>
              <a:t>85</a:t>
            </a:r>
            <a:pPr algn="ctr" indent="0" marL="0">
              <a:buNone/>
            </a:pPr>
            <a:r>
              <a:rPr lang="en-US" sz="1300" i="1" dirty="0">
                <a:solidFill>
                  <a:srgbClr val="1F2937"/>
                </a:solidFill>
                <a:latin typeface="Calibri" pitchFamily="34" charset="0"/>
                <a:ea typeface="Calibri" pitchFamily="34" charset="-122"/>
                <a:cs typeface="Calibri" pitchFamily="34" charset="-120"/>
              </a:rPr>
              <a:t>      (−25 % reduction in the dominant failure mode)</a:t>
            </a:r>
            <a:endParaRPr lang="en-US" sz="1400" dirty="0"/>
          </a:p>
        </p:txBody>
      </p:sp>
      <p:sp>
        <p:nvSpPr>
          <p:cNvPr id="14" name="Text 8"/>
          <p:cNvSpPr/>
          <p:nvPr/>
        </p:nvSpPr>
        <p:spPr>
          <a:xfrm>
            <a:off x="457200" y="6446520"/>
            <a:ext cx="73152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Wheat Disease Classification  |  Spring 2026</a:t>
            </a:r>
            <a:endParaRPr lang="en-US" sz="1000" dirty="0"/>
          </a:p>
        </p:txBody>
      </p:sp>
      <p:sp>
        <p:nvSpPr>
          <p:cNvPr id="15" name="Text 9"/>
          <p:cNvSpPr/>
          <p:nvPr/>
        </p:nvSpPr>
        <p:spPr>
          <a:xfrm>
            <a:off x="11430000" y="644652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indent="0" marL="0">
              <a:buNone/>
            </a:pPr>
            <a:r>
              <a:rPr lang="en-US" sz="3200" b="1" dirty="0">
                <a:solidFill>
                  <a:srgbClr val="2C5F2D"/>
                </a:solidFill>
                <a:latin typeface="Calibri" pitchFamily="34" charset="0"/>
                <a:ea typeface="Calibri" pitchFamily="34" charset="-122"/>
                <a:cs typeface="Calibri" pitchFamily="34" charset="-120"/>
              </a:rPr>
              <a:t>Three-Way Ablation — Complete Numbers</a:t>
            </a:r>
            <a:endParaRPr lang="en-US" sz="3200" dirty="0"/>
          </a:p>
        </p:txBody>
      </p:sp>
      <p:sp>
        <p:nvSpPr>
          <p:cNvPr id="3" name="Shape 1"/>
          <p:cNvSpPr/>
          <p:nvPr/>
        </p:nvSpPr>
        <p:spPr>
          <a:xfrm>
            <a:off x="457200" y="960120"/>
            <a:ext cx="548640" cy="54864"/>
          </a:xfrm>
          <a:prstGeom prst="rect">
            <a:avLst/>
          </a:prstGeom>
          <a:solidFill>
            <a:srgbClr val="97BC62"/>
          </a:solidFill>
          <a:ln w="12700">
            <a:solidFill>
              <a:srgbClr val="97BC62"/>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4389120"/>
        </p:xfrm>
        <a:graphic>
          <a:graphicData uri="http://schemas.openxmlformats.org/drawingml/2006/table">
            <a:tbl>
              <a:tblPr/>
              <a:tblGrid>
                <a:gridCol w="2926080"/>
                <a:gridCol w="1920240"/>
                <a:gridCol w="1920240"/>
                <a:gridCol w="2194560"/>
                <a:gridCol w="2103120"/>
              </a:tblGrid>
              <a:tr h="54864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Metric</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C5F2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Model A — RGB</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C5F2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Model B — RGB+MS</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C5F2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Model C — RGB+MS+HS</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C5F2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Total Δ</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C5F2D"/>
                    </a:solidFill>
                  </a:tcPr>
                </a:tc>
              </a:tr>
              <a:tr h="548640">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CV mean accuracy</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0.598</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0.640</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0.673</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7F2"/>
                    </a:solidFill>
                  </a:tcPr>
                </a:tc>
                <a:tc>
                  <a:txBody>
                    <a:bodyPr/>
                    <a:lstStyle/>
                    <a:p>
                      <a:pPr algn="ctr" indent="0" marL="0">
                        <a:buNone/>
                      </a:pPr>
                      <a:r>
                        <a:rPr lang="en-US" sz="1300" b="1" dirty="0">
                          <a:solidFill>
                            <a:srgbClr val="2C5F2D"/>
                          </a:solidFill>
                          <a:latin typeface="Calibri" pitchFamily="34" charset="0"/>
                          <a:ea typeface="Calibri" pitchFamily="34" charset="-122"/>
                          <a:cs typeface="Calibri" pitchFamily="34" charset="-120"/>
                        </a:rPr>
                        <a:t>+0.075</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548640">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CV mean macro-F1</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0.566</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0.609</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0.651</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7F2"/>
                    </a:solidFill>
                  </a:tcPr>
                </a:tc>
                <a:tc>
                  <a:txBody>
                    <a:bodyPr/>
                    <a:lstStyle/>
                    <a:p>
                      <a:pPr algn="ctr" indent="0" marL="0">
                        <a:buNone/>
                      </a:pPr>
                      <a:r>
                        <a:rPr lang="en-US" sz="1300" b="1" dirty="0">
                          <a:solidFill>
                            <a:srgbClr val="2C5F2D"/>
                          </a:solidFill>
                          <a:latin typeface="Calibri" pitchFamily="34" charset="0"/>
                          <a:ea typeface="Calibri" pitchFamily="34" charset="-122"/>
                          <a:cs typeface="Calibri" pitchFamily="34" charset="-120"/>
                        </a:rPr>
                        <a:t>+0.085</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548640">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Kaggle public score</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0.505</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0.632</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0.684</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7F2"/>
                    </a:solidFill>
                  </a:tcPr>
                </a:tc>
                <a:tc>
                  <a:txBody>
                    <a:bodyPr/>
                    <a:lstStyle/>
                    <a:p>
                      <a:pPr algn="ctr" indent="0" marL="0">
                        <a:buNone/>
                      </a:pPr>
                      <a:r>
                        <a:rPr lang="en-US" sz="1300" b="1" dirty="0">
                          <a:solidFill>
                            <a:srgbClr val="2C5F2D"/>
                          </a:solidFill>
                          <a:latin typeface="Calibri" pitchFamily="34" charset="0"/>
                          <a:ea typeface="Calibri" pitchFamily="34" charset="-122"/>
                          <a:cs typeface="Calibri" pitchFamily="34" charset="-120"/>
                        </a:rPr>
                        <a:t>+0.179</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548640">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Kaggle private score</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0.624</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0.649</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0.722</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7F2"/>
                    </a:solidFill>
                  </a:tcPr>
                </a:tc>
                <a:tc>
                  <a:txBody>
                    <a:bodyPr/>
                    <a:lstStyle/>
                    <a:p>
                      <a:pPr algn="ctr" indent="0" marL="0">
                        <a:buNone/>
                      </a:pPr>
                      <a:r>
                        <a:rPr lang="en-US" sz="1300" b="1" dirty="0">
                          <a:solidFill>
                            <a:srgbClr val="2C5F2D"/>
                          </a:solidFill>
                          <a:latin typeface="Calibri" pitchFamily="34" charset="0"/>
                          <a:ea typeface="Calibri" pitchFamily="34" charset="-122"/>
                          <a:cs typeface="Calibri" pitchFamily="34" charset="-120"/>
                        </a:rPr>
                        <a:t>+0.098</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548640">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Health F1</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0.309</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0.357</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0.429</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7F2"/>
                    </a:solidFill>
                  </a:tcPr>
                </a:tc>
                <a:tc>
                  <a:txBody>
                    <a:bodyPr/>
                    <a:lstStyle/>
                    <a:p>
                      <a:pPr algn="ctr" indent="0" marL="0">
                        <a:buNone/>
                      </a:pPr>
                      <a:r>
                        <a:rPr lang="en-US" sz="1300" b="1" dirty="0">
                          <a:solidFill>
                            <a:srgbClr val="2C5F2D"/>
                          </a:solidFill>
                          <a:latin typeface="Calibri" pitchFamily="34" charset="0"/>
                          <a:ea typeface="Calibri" pitchFamily="34" charset="-122"/>
                          <a:cs typeface="Calibri" pitchFamily="34" charset="-120"/>
                        </a:rPr>
                        <a:t>+0.120</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548640">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Rust F1</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0.647</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0.669</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0.720</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7F2"/>
                    </a:solidFill>
                  </a:tcPr>
                </a:tc>
                <a:tc>
                  <a:txBody>
                    <a:bodyPr/>
                    <a:lstStyle/>
                    <a:p>
                      <a:pPr algn="ctr" indent="0" marL="0">
                        <a:buNone/>
                      </a:pPr>
                      <a:r>
                        <a:rPr lang="en-US" sz="1300" b="1" dirty="0">
                          <a:solidFill>
                            <a:srgbClr val="2C5F2D"/>
                          </a:solidFill>
                          <a:latin typeface="Calibri" pitchFamily="34" charset="0"/>
                          <a:ea typeface="Calibri" pitchFamily="34" charset="-122"/>
                          <a:cs typeface="Calibri" pitchFamily="34" charset="-120"/>
                        </a:rPr>
                        <a:t>+0.073</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548640">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Other F1</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0.746</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0.805</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0.803</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7F2"/>
                    </a:solidFill>
                  </a:tcPr>
                </a:tc>
                <a:tc>
                  <a:txBody>
                    <a:bodyPr/>
                    <a:lstStyle/>
                    <a:p>
                      <a:pPr algn="ctr" indent="0" marL="0">
                        <a:buNone/>
                      </a:pPr>
                      <a:r>
                        <a:rPr lang="en-US" sz="1300" b="1" dirty="0">
                          <a:solidFill>
                            <a:srgbClr val="2C5F2D"/>
                          </a:solidFill>
                          <a:latin typeface="Calibri" pitchFamily="34" charset="0"/>
                          <a:ea typeface="Calibri" pitchFamily="34" charset="-122"/>
                          <a:cs typeface="Calibri" pitchFamily="34" charset="-120"/>
                        </a:rPr>
                        <a:t>+0.057</a:t>
                      </a:r>
                      <a:endParaRPr lang="en-US" sz="13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bl>
          </a:graphicData>
        </a:graphic>
      </p:graphicFrame>
      <p:sp>
        <p:nvSpPr>
          <p:cNvPr id="5" name="Shape 2"/>
          <p:cNvSpPr/>
          <p:nvPr/>
        </p:nvSpPr>
        <p:spPr>
          <a:xfrm>
            <a:off x="457200" y="5760720"/>
            <a:ext cx="11247120" cy="457200"/>
          </a:xfrm>
          <a:prstGeom prst="rect">
            <a:avLst/>
          </a:prstGeom>
          <a:solidFill>
            <a:srgbClr val="F5F7F2"/>
          </a:solidFill>
          <a:ln w="12700">
            <a:solidFill>
              <a:srgbClr val="97BC62"/>
            </a:solidFill>
            <a:prstDash val="solid"/>
          </a:ln>
        </p:spPr>
      </p:sp>
      <p:sp>
        <p:nvSpPr>
          <p:cNvPr id="6" name="Text 3"/>
          <p:cNvSpPr/>
          <p:nvPr/>
        </p:nvSpPr>
        <p:spPr>
          <a:xfrm>
            <a:off x="640080" y="5760720"/>
            <a:ext cx="10881360" cy="457200"/>
          </a:xfrm>
          <a:prstGeom prst="rect">
            <a:avLst/>
          </a:prstGeom>
          <a:noFill/>
          <a:ln/>
        </p:spPr>
        <p:txBody>
          <a:bodyPr wrap="square" lIns="0" tIns="0" rIns="0" bIns="0" rtlCol="0" anchor="ctr"/>
          <a:lstStyle/>
          <a:p>
            <a:pPr algn="ctr" indent="0" marL="0">
              <a:buNone/>
            </a:pPr>
            <a:r>
              <a:rPr lang="en-US" sz="1200" i="1" dirty="0">
                <a:solidFill>
                  <a:srgbClr val="2C5F2D"/>
                </a:solidFill>
                <a:latin typeface="Calibri" pitchFamily="34" charset="0"/>
                <a:ea typeface="Calibri" pitchFamily="34" charset="-122"/>
                <a:cs typeface="Calibri" pitchFamily="34" charset="-120"/>
              </a:rPr>
              <a:t>8 out of 8 metrics improve monotonically. Pattern holds on CV and both Kaggle leaderboard splits independently.</a:t>
            </a:r>
            <a:endParaRPr lang="en-US" sz="1200" dirty="0"/>
          </a:p>
        </p:txBody>
      </p:sp>
      <p:sp>
        <p:nvSpPr>
          <p:cNvPr id="8" name="Text 4"/>
          <p:cNvSpPr/>
          <p:nvPr/>
        </p:nvSpPr>
        <p:spPr>
          <a:xfrm>
            <a:off x="457200" y="6446520"/>
            <a:ext cx="73152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Wheat Disease Classification  |  Spring 2026</a:t>
            </a:r>
            <a:endParaRPr lang="en-US" sz="1000" dirty="0"/>
          </a:p>
        </p:txBody>
      </p:sp>
      <p:sp>
        <p:nvSpPr>
          <p:cNvPr id="9" name="Text 5"/>
          <p:cNvSpPr/>
          <p:nvPr/>
        </p:nvSpPr>
        <p:spPr>
          <a:xfrm>
            <a:off x="11430000" y="644652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indent="0" marL="0">
              <a:buNone/>
            </a:pPr>
            <a:r>
              <a:rPr lang="en-US" sz="3200" b="1" dirty="0">
                <a:solidFill>
                  <a:srgbClr val="2C5F2D"/>
                </a:solidFill>
                <a:latin typeface="Calibri" pitchFamily="34" charset="0"/>
                <a:ea typeface="Calibri" pitchFamily="34" charset="-122"/>
                <a:cs typeface="Calibri" pitchFamily="34" charset="-120"/>
              </a:rPr>
              <a:t>Related Work — Where This Fits</a:t>
            </a:r>
            <a:endParaRPr lang="en-US" sz="3200" dirty="0"/>
          </a:p>
        </p:txBody>
      </p:sp>
      <p:sp>
        <p:nvSpPr>
          <p:cNvPr id="3" name="Shape 1"/>
          <p:cNvSpPr/>
          <p:nvPr/>
        </p:nvSpPr>
        <p:spPr>
          <a:xfrm>
            <a:off x="457200" y="960120"/>
            <a:ext cx="548640" cy="54864"/>
          </a:xfrm>
          <a:prstGeom prst="rect">
            <a:avLst/>
          </a:prstGeom>
          <a:solidFill>
            <a:srgbClr val="97BC62"/>
          </a:solidFill>
          <a:ln w="12700">
            <a:solidFill>
              <a:srgbClr val="97BC62"/>
            </a:solidFill>
            <a:prstDash val="solid"/>
          </a:ln>
        </p:spPr>
      </p:sp>
      <p:sp>
        <p:nvSpPr>
          <p:cNvPr id="4" name="Shape 2"/>
          <p:cNvSpPr/>
          <p:nvPr/>
        </p:nvSpPr>
        <p:spPr>
          <a:xfrm>
            <a:off x="457200" y="1371600"/>
            <a:ext cx="5577840" cy="2194560"/>
          </a:xfrm>
          <a:prstGeom prst="rect">
            <a:avLst/>
          </a:prstGeom>
          <a:solidFill>
            <a:srgbClr val="F5F7F2"/>
          </a:solidFill>
          <a:ln w="12700">
            <a:solidFill>
              <a:srgbClr val="97BC62"/>
            </a:solidFill>
            <a:prstDash val="solid"/>
          </a:ln>
        </p:spPr>
      </p:sp>
      <p:sp>
        <p:nvSpPr>
          <p:cNvPr id="5" name="Shape 3"/>
          <p:cNvSpPr/>
          <p:nvPr/>
        </p:nvSpPr>
        <p:spPr>
          <a:xfrm>
            <a:off x="457200" y="1371600"/>
            <a:ext cx="109728" cy="2194560"/>
          </a:xfrm>
          <a:prstGeom prst="rect">
            <a:avLst/>
          </a:prstGeom>
          <a:solidFill>
            <a:srgbClr val="2C5F2D"/>
          </a:solidFill>
          <a:ln w="12700">
            <a:solidFill>
              <a:srgbClr val="2C5F2D"/>
            </a:solidFill>
            <a:prstDash val="solid"/>
          </a:ln>
        </p:spPr>
      </p:sp>
      <p:sp>
        <p:nvSpPr>
          <p:cNvPr id="6" name="Text 4"/>
          <p:cNvSpPr/>
          <p:nvPr/>
        </p:nvSpPr>
        <p:spPr>
          <a:xfrm>
            <a:off x="594360" y="1463040"/>
            <a:ext cx="548640" cy="320040"/>
          </a:xfrm>
          <a:prstGeom prst="rect">
            <a:avLst/>
          </a:prstGeom>
          <a:noFill/>
          <a:ln/>
        </p:spPr>
        <p:txBody>
          <a:bodyPr wrap="square" lIns="0" tIns="0" rIns="0" bIns="0" rtlCol="0" anchor="ctr"/>
          <a:lstStyle/>
          <a:p>
            <a:pPr indent="0" marL="0">
              <a:buNone/>
            </a:pPr>
            <a:r>
              <a:rPr lang="en-US" sz="1200" b="1" dirty="0">
                <a:solidFill>
                  <a:srgbClr val="2C5F2D"/>
                </a:solidFill>
                <a:latin typeface="Calibri" pitchFamily="34" charset="0"/>
                <a:ea typeface="Calibri" pitchFamily="34" charset="-122"/>
                <a:cs typeface="Calibri" pitchFamily="34" charset="-120"/>
              </a:rPr>
              <a:t>[8]</a:t>
            </a:r>
            <a:endParaRPr lang="en-US" sz="1200" dirty="0"/>
          </a:p>
        </p:txBody>
      </p:sp>
      <p:sp>
        <p:nvSpPr>
          <p:cNvPr id="7" name="Text 5"/>
          <p:cNvSpPr/>
          <p:nvPr/>
        </p:nvSpPr>
        <p:spPr>
          <a:xfrm>
            <a:off x="685800" y="1463040"/>
            <a:ext cx="5120640" cy="36576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Zhang et al. 2019 (Remote Sensing)</a:t>
            </a:r>
            <a:endParaRPr lang="en-US" sz="1300" dirty="0"/>
          </a:p>
        </p:txBody>
      </p:sp>
      <p:sp>
        <p:nvSpPr>
          <p:cNvPr id="8" name="Text 6"/>
          <p:cNvSpPr/>
          <p:nvPr/>
        </p:nvSpPr>
        <p:spPr>
          <a:xfrm>
            <a:off x="685800" y="1874520"/>
            <a:ext cx="5120640" cy="16002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Most directly relevant. Same sensor (UHD 185, 125-band, 450–950 nm) on wheat stripe rust with a DCNN. Our work adds multimodal fusion and a controlled ablation comparing modalities.</a:t>
            </a:r>
            <a:endParaRPr lang="en-US" sz="1200" dirty="0"/>
          </a:p>
        </p:txBody>
      </p:sp>
      <p:sp>
        <p:nvSpPr>
          <p:cNvPr id="9" name="Shape 7"/>
          <p:cNvSpPr/>
          <p:nvPr/>
        </p:nvSpPr>
        <p:spPr>
          <a:xfrm>
            <a:off x="6309360" y="1371600"/>
            <a:ext cx="5577840" cy="2194560"/>
          </a:xfrm>
          <a:prstGeom prst="rect">
            <a:avLst/>
          </a:prstGeom>
          <a:solidFill>
            <a:srgbClr val="F5F7F2"/>
          </a:solidFill>
          <a:ln w="12700">
            <a:solidFill>
              <a:srgbClr val="97BC62"/>
            </a:solidFill>
            <a:prstDash val="solid"/>
          </a:ln>
        </p:spPr>
      </p:sp>
      <p:sp>
        <p:nvSpPr>
          <p:cNvPr id="10" name="Shape 8"/>
          <p:cNvSpPr/>
          <p:nvPr/>
        </p:nvSpPr>
        <p:spPr>
          <a:xfrm>
            <a:off x="6309360" y="1371600"/>
            <a:ext cx="109728" cy="2194560"/>
          </a:xfrm>
          <a:prstGeom prst="rect">
            <a:avLst/>
          </a:prstGeom>
          <a:solidFill>
            <a:srgbClr val="2C5F2D"/>
          </a:solidFill>
          <a:ln w="12700">
            <a:solidFill>
              <a:srgbClr val="2C5F2D"/>
            </a:solidFill>
            <a:prstDash val="solid"/>
          </a:ln>
        </p:spPr>
      </p:sp>
      <p:sp>
        <p:nvSpPr>
          <p:cNvPr id="11" name="Text 9"/>
          <p:cNvSpPr/>
          <p:nvPr/>
        </p:nvSpPr>
        <p:spPr>
          <a:xfrm>
            <a:off x="6446520" y="1463040"/>
            <a:ext cx="548640" cy="320040"/>
          </a:xfrm>
          <a:prstGeom prst="rect">
            <a:avLst/>
          </a:prstGeom>
          <a:noFill/>
          <a:ln/>
        </p:spPr>
        <p:txBody>
          <a:bodyPr wrap="square" lIns="0" tIns="0" rIns="0" bIns="0" rtlCol="0" anchor="ctr"/>
          <a:lstStyle/>
          <a:p>
            <a:pPr indent="0" marL="0">
              <a:buNone/>
            </a:pPr>
            <a:r>
              <a:rPr lang="en-US" sz="1200" b="1" dirty="0">
                <a:solidFill>
                  <a:srgbClr val="2C5F2D"/>
                </a:solidFill>
                <a:latin typeface="Calibri" pitchFamily="34" charset="0"/>
                <a:ea typeface="Calibri" pitchFamily="34" charset="-122"/>
                <a:cs typeface="Calibri" pitchFamily="34" charset="-120"/>
              </a:rPr>
              <a:t>[9]</a:t>
            </a:r>
            <a:endParaRPr lang="en-US" sz="1200" dirty="0"/>
          </a:p>
        </p:txBody>
      </p:sp>
      <p:sp>
        <p:nvSpPr>
          <p:cNvPr id="12" name="Text 10"/>
          <p:cNvSpPr/>
          <p:nvPr/>
        </p:nvSpPr>
        <p:spPr>
          <a:xfrm>
            <a:off x="6537960" y="1463040"/>
            <a:ext cx="5120640" cy="36576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Su et al. 2021 / Zheng et al. 2021</a:t>
            </a:r>
            <a:endParaRPr lang="en-US" sz="1300" dirty="0"/>
          </a:p>
        </p:txBody>
      </p:sp>
      <p:sp>
        <p:nvSpPr>
          <p:cNvPr id="13" name="Text 11"/>
          <p:cNvSpPr/>
          <p:nvPr/>
        </p:nvSpPr>
        <p:spPr>
          <a:xfrm>
            <a:off x="6537960" y="1874520"/>
            <a:ext cx="5120640" cy="16002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U-Net on multispectral UAV imagery for wheat stripe rust — Rust F1 = 0.84 and 0.88. Confirms MS Red Edge and NIR bands are useful, consistent with our Model B improvement.</a:t>
            </a:r>
            <a:endParaRPr lang="en-US" sz="1200" dirty="0"/>
          </a:p>
        </p:txBody>
      </p:sp>
      <p:sp>
        <p:nvSpPr>
          <p:cNvPr id="14" name="Shape 12"/>
          <p:cNvSpPr/>
          <p:nvPr/>
        </p:nvSpPr>
        <p:spPr>
          <a:xfrm>
            <a:off x="457200" y="3749040"/>
            <a:ext cx="5577840" cy="2194560"/>
          </a:xfrm>
          <a:prstGeom prst="rect">
            <a:avLst/>
          </a:prstGeom>
          <a:solidFill>
            <a:srgbClr val="F5F7F2"/>
          </a:solidFill>
          <a:ln w="12700">
            <a:solidFill>
              <a:srgbClr val="97BC62"/>
            </a:solidFill>
            <a:prstDash val="solid"/>
          </a:ln>
        </p:spPr>
      </p:sp>
      <p:sp>
        <p:nvSpPr>
          <p:cNvPr id="15" name="Shape 13"/>
          <p:cNvSpPr/>
          <p:nvPr/>
        </p:nvSpPr>
        <p:spPr>
          <a:xfrm>
            <a:off x="457200" y="3749040"/>
            <a:ext cx="109728" cy="2194560"/>
          </a:xfrm>
          <a:prstGeom prst="rect">
            <a:avLst/>
          </a:prstGeom>
          <a:solidFill>
            <a:srgbClr val="2C5F2D"/>
          </a:solidFill>
          <a:ln w="12700">
            <a:solidFill>
              <a:srgbClr val="2C5F2D"/>
            </a:solidFill>
            <a:prstDash val="solid"/>
          </a:ln>
        </p:spPr>
      </p:sp>
      <p:sp>
        <p:nvSpPr>
          <p:cNvPr id="16" name="Text 14"/>
          <p:cNvSpPr/>
          <p:nvPr/>
        </p:nvSpPr>
        <p:spPr>
          <a:xfrm>
            <a:off x="594360" y="3840480"/>
            <a:ext cx="548640" cy="320040"/>
          </a:xfrm>
          <a:prstGeom prst="rect">
            <a:avLst/>
          </a:prstGeom>
          <a:noFill/>
          <a:ln/>
        </p:spPr>
        <p:txBody>
          <a:bodyPr wrap="square" lIns="0" tIns="0" rIns="0" bIns="0" rtlCol="0" anchor="ctr"/>
          <a:lstStyle/>
          <a:p>
            <a:pPr indent="0" marL="0">
              <a:buNone/>
            </a:pPr>
            <a:r>
              <a:rPr lang="en-US" sz="1200" b="1" dirty="0">
                <a:solidFill>
                  <a:srgbClr val="2C5F2D"/>
                </a:solidFill>
                <a:latin typeface="Calibri" pitchFamily="34" charset="0"/>
                <a:ea typeface="Calibri" pitchFamily="34" charset="-122"/>
                <a:cs typeface="Calibri" pitchFamily="34" charset="-120"/>
              </a:rPr>
              <a:t>[10]</a:t>
            </a:r>
            <a:endParaRPr lang="en-US" sz="1200" dirty="0"/>
          </a:p>
        </p:txBody>
      </p:sp>
      <p:sp>
        <p:nvSpPr>
          <p:cNvPr id="17" name="Text 15"/>
          <p:cNvSpPr/>
          <p:nvPr/>
        </p:nvSpPr>
        <p:spPr>
          <a:xfrm>
            <a:off x="685800" y="3840480"/>
            <a:ext cx="5120640" cy="36576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Bhatt et al. 2023 (Smart Ag. Tech.)</a:t>
            </a:r>
            <a:endParaRPr lang="en-US" sz="1300" dirty="0"/>
          </a:p>
        </p:txBody>
      </p:sp>
      <p:sp>
        <p:nvSpPr>
          <p:cNvPr id="18" name="Text 16"/>
          <p:cNvSpPr/>
          <p:nvPr/>
        </p:nvSpPr>
        <p:spPr>
          <a:xfrm>
            <a:off x="685800" y="4251960"/>
            <a:ext cx="5120640" cy="16002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Review of 3D-CNNs for hyperspectral crop disease. 3D-CNNs model spectral-spatial jointly but at high compute cost. Our encoder is lighter and task-adaptive.</a:t>
            </a:r>
            <a:endParaRPr lang="en-US" sz="1200" dirty="0"/>
          </a:p>
        </p:txBody>
      </p:sp>
      <p:sp>
        <p:nvSpPr>
          <p:cNvPr id="19" name="Shape 17"/>
          <p:cNvSpPr/>
          <p:nvPr/>
        </p:nvSpPr>
        <p:spPr>
          <a:xfrm>
            <a:off x="6309360" y="3749040"/>
            <a:ext cx="5577840" cy="2194560"/>
          </a:xfrm>
          <a:prstGeom prst="rect">
            <a:avLst/>
          </a:prstGeom>
          <a:solidFill>
            <a:srgbClr val="F5F7F2"/>
          </a:solidFill>
          <a:ln w="12700">
            <a:solidFill>
              <a:srgbClr val="97BC62"/>
            </a:solidFill>
            <a:prstDash val="solid"/>
          </a:ln>
        </p:spPr>
      </p:sp>
      <p:sp>
        <p:nvSpPr>
          <p:cNvPr id="20" name="Shape 18"/>
          <p:cNvSpPr/>
          <p:nvPr/>
        </p:nvSpPr>
        <p:spPr>
          <a:xfrm>
            <a:off x="6309360" y="3749040"/>
            <a:ext cx="109728" cy="2194560"/>
          </a:xfrm>
          <a:prstGeom prst="rect">
            <a:avLst/>
          </a:prstGeom>
          <a:solidFill>
            <a:srgbClr val="2C5F2D"/>
          </a:solidFill>
          <a:ln w="12700">
            <a:solidFill>
              <a:srgbClr val="2C5F2D"/>
            </a:solidFill>
            <a:prstDash val="solid"/>
          </a:ln>
        </p:spPr>
      </p:sp>
      <p:sp>
        <p:nvSpPr>
          <p:cNvPr id="21" name="Text 19"/>
          <p:cNvSpPr/>
          <p:nvPr/>
        </p:nvSpPr>
        <p:spPr>
          <a:xfrm>
            <a:off x="6446520" y="3840480"/>
            <a:ext cx="548640" cy="320040"/>
          </a:xfrm>
          <a:prstGeom prst="rect">
            <a:avLst/>
          </a:prstGeom>
          <a:noFill/>
          <a:ln/>
        </p:spPr>
        <p:txBody>
          <a:bodyPr wrap="square" lIns="0" tIns="0" rIns="0" bIns="0" rtlCol="0" anchor="ctr"/>
          <a:lstStyle/>
          <a:p>
            <a:pPr indent="0" marL="0">
              <a:buNone/>
            </a:pPr>
            <a:r>
              <a:rPr lang="en-US" sz="1200" b="1" dirty="0">
                <a:solidFill>
                  <a:srgbClr val="2C5F2D"/>
                </a:solidFill>
                <a:latin typeface="Calibri" pitchFamily="34" charset="0"/>
                <a:ea typeface="Calibri" pitchFamily="34" charset="-122"/>
                <a:cs typeface="Calibri" pitchFamily="34" charset="-120"/>
              </a:rPr>
              <a:t>[11]</a:t>
            </a:r>
            <a:endParaRPr lang="en-US" sz="1200" dirty="0"/>
          </a:p>
        </p:txBody>
      </p:sp>
      <p:sp>
        <p:nvSpPr>
          <p:cNvPr id="22" name="Text 20"/>
          <p:cNvSpPr/>
          <p:nvPr/>
        </p:nvSpPr>
        <p:spPr>
          <a:xfrm>
            <a:off x="6537960" y="3840480"/>
            <a:ext cx="5120640" cy="36576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Li et al. 2025 (Sensors)</a:t>
            </a:r>
            <a:endParaRPr lang="en-US" sz="1300" dirty="0"/>
          </a:p>
        </p:txBody>
      </p:sp>
      <p:sp>
        <p:nvSpPr>
          <p:cNvPr id="23" name="Text 21"/>
          <p:cNvSpPr/>
          <p:nvPr/>
        </p:nvSpPr>
        <p:spPr>
          <a:xfrm>
            <a:off x="6537960" y="4251960"/>
            <a:ext cx="5120640" cy="16002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ResNet50 + attention for multispectral crop classification. Consistent with our finding: standard ResNet backbone with learned spectral weighting works well on small labeled datasets.</a:t>
            </a:r>
            <a:endParaRPr lang="en-US" sz="1200" dirty="0"/>
          </a:p>
        </p:txBody>
      </p:sp>
      <p:sp>
        <p:nvSpPr>
          <p:cNvPr id="24" name="Shape 22"/>
          <p:cNvSpPr/>
          <p:nvPr/>
        </p:nvSpPr>
        <p:spPr>
          <a:xfrm>
            <a:off x="457200" y="5806440"/>
            <a:ext cx="11247120" cy="411480"/>
          </a:xfrm>
          <a:prstGeom prst="rect">
            <a:avLst/>
          </a:prstGeom>
          <a:solidFill>
            <a:srgbClr val="FFFFFF"/>
          </a:solidFill>
          <a:ln w="12700">
            <a:solidFill>
              <a:srgbClr val="97BC62"/>
            </a:solidFill>
            <a:prstDash val="solid"/>
          </a:ln>
        </p:spPr>
      </p:sp>
      <p:sp>
        <p:nvSpPr>
          <p:cNvPr id="25" name="Text 23"/>
          <p:cNvSpPr/>
          <p:nvPr/>
        </p:nvSpPr>
        <p:spPr>
          <a:xfrm>
            <a:off x="640080" y="5806440"/>
            <a:ext cx="10881360" cy="411480"/>
          </a:xfrm>
          <a:prstGeom prst="rect">
            <a:avLst/>
          </a:prstGeom>
          <a:noFill/>
          <a:ln/>
        </p:spPr>
        <p:txBody>
          <a:bodyPr wrap="square" lIns="0" tIns="0" rIns="0" bIns="0" rtlCol="0" anchor="ctr"/>
          <a:lstStyle/>
          <a:p>
            <a:pPr algn="ctr" indent="0" marL="0">
              <a:buNone/>
            </a:pPr>
            <a:r>
              <a:rPr lang="en-US" sz="1200" i="1" dirty="0">
                <a:solidFill>
                  <a:srgbClr val="2C5F2D"/>
                </a:solidFill>
                <a:latin typeface="Calibri" pitchFamily="34" charset="0"/>
                <a:ea typeface="Calibri" pitchFamily="34" charset="-122"/>
                <a:cs typeface="Calibri" pitchFamily="34" charset="-120"/>
              </a:rPr>
              <a:t>Our distinguishing contribution: controlled ablation + real leaderboard validation + individual submission on a small (600-sample) training set.</a:t>
            </a:r>
            <a:endParaRPr lang="en-US" sz="1200" dirty="0"/>
          </a:p>
        </p:txBody>
      </p:sp>
      <p:sp>
        <p:nvSpPr>
          <p:cNvPr id="27" name="Text 24"/>
          <p:cNvSpPr/>
          <p:nvPr/>
        </p:nvSpPr>
        <p:spPr>
          <a:xfrm>
            <a:off x="457200" y="6446520"/>
            <a:ext cx="73152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Wheat Disease Classification  |  Spring 2026</a:t>
            </a:r>
            <a:endParaRPr lang="en-US" sz="1000" dirty="0"/>
          </a:p>
        </p:txBody>
      </p:sp>
      <p:sp>
        <p:nvSpPr>
          <p:cNvPr id="28" name="Text 25"/>
          <p:cNvSpPr/>
          <p:nvPr/>
        </p:nvSpPr>
        <p:spPr>
          <a:xfrm>
            <a:off x="11430000" y="644652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indent="0" marL="0">
              <a:buNone/>
            </a:pPr>
            <a:r>
              <a:rPr lang="en-US" sz="3200" b="1" dirty="0">
                <a:solidFill>
                  <a:srgbClr val="2C5F2D"/>
                </a:solidFill>
                <a:latin typeface="Calibri" pitchFamily="34" charset="0"/>
                <a:ea typeface="Calibri" pitchFamily="34" charset="-122"/>
                <a:cs typeface="Calibri" pitchFamily="34" charset="-120"/>
              </a:rPr>
              <a:t>Discussion</a:t>
            </a:r>
            <a:endParaRPr lang="en-US" sz="3200" dirty="0"/>
          </a:p>
        </p:txBody>
      </p:sp>
      <p:sp>
        <p:nvSpPr>
          <p:cNvPr id="3" name="Shape 1"/>
          <p:cNvSpPr/>
          <p:nvPr/>
        </p:nvSpPr>
        <p:spPr>
          <a:xfrm>
            <a:off x="457200" y="960120"/>
            <a:ext cx="548640" cy="54864"/>
          </a:xfrm>
          <a:prstGeom prst="rect">
            <a:avLst/>
          </a:prstGeom>
          <a:solidFill>
            <a:srgbClr val="97BC62"/>
          </a:solidFill>
          <a:ln w="12700">
            <a:solidFill>
              <a:srgbClr val="97BC62"/>
            </a:solidFill>
            <a:prstDash val="solid"/>
          </a:ln>
        </p:spPr>
      </p:sp>
      <p:sp>
        <p:nvSpPr>
          <p:cNvPr id="4" name="Shape 2"/>
          <p:cNvSpPr/>
          <p:nvPr/>
        </p:nvSpPr>
        <p:spPr>
          <a:xfrm>
            <a:off x="457200" y="1371600"/>
            <a:ext cx="3657600" cy="548640"/>
          </a:xfrm>
          <a:prstGeom prst="rect">
            <a:avLst/>
          </a:prstGeom>
          <a:solidFill>
            <a:srgbClr val="5B8CB0"/>
          </a:solidFill>
          <a:ln w="12700">
            <a:solidFill>
              <a:srgbClr val="5B8CB0"/>
            </a:solidFill>
            <a:prstDash val="solid"/>
          </a:ln>
        </p:spPr>
      </p:sp>
      <p:sp>
        <p:nvSpPr>
          <p:cNvPr id="5" name="Text 3"/>
          <p:cNvSpPr/>
          <p:nvPr/>
        </p:nvSpPr>
        <p:spPr>
          <a:xfrm>
            <a:off x="457200" y="1371600"/>
            <a:ext cx="365760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Why Other F1 plateaued</a:t>
            </a:r>
            <a:endParaRPr lang="en-US" sz="1500" dirty="0"/>
          </a:p>
        </p:txBody>
      </p:sp>
      <p:sp>
        <p:nvSpPr>
          <p:cNvPr id="6" name="Shape 4"/>
          <p:cNvSpPr/>
          <p:nvPr/>
        </p:nvSpPr>
        <p:spPr>
          <a:xfrm>
            <a:off x="457200" y="1920240"/>
            <a:ext cx="3657600" cy="3611880"/>
          </a:xfrm>
          <a:prstGeom prst="rect">
            <a:avLst/>
          </a:prstGeom>
          <a:solidFill>
            <a:srgbClr val="F5F7F2"/>
          </a:solidFill>
          <a:ln w="12700">
            <a:solidFill>
              <a:srgbClr val="5B8CB0"/>
            </a:solidFill>
            <a:prstDash val="solid"/>
          </a:ln>
        </p:spPr>
      </p:sp>
      <p:sp>
        <p:nvSpPr>
          <p:cNvPr id="7" name="Text 5"/>
          <p:cNvSpPr/>
          <p:nvPr/>
        </p:nvSpPr>
        <p:spPr>
          <a:xfrm>
            <a:off x="640080" y="2011680"/>
            <a:ext cx="3291840" cy="34290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Other class has a structurally different spectral shape — lower NIR plateau. The MS NIR band already separates vegetation from background at Model B (F1=0.805). HS helps within the Health/Rust pair but adds nothing extra for the vegetation-vs-background boundary. Not a failure — it is what the physics predicts.</a:t>
            </a:r>
            <a:endParaRPr lang="en-US" sz="1300" dirty="0"/>
          </a:p>
        </p:txBody>
      </p:sp>
      <p:sp>
        <p:nvSpPr>
          <p:cNvPr id="8" name="Shape 6"/>
          <p:cNvSpPr/>
          <p:nvPr/>
        </p:nvSpPr>
        <p:spPr>
          <a:xfrm>
            <a:off x="4361688" y="1371600"/>
            <a:ext cx="3657600" cy="548640"/>
          </a:xfrm>
          <a:prstGeom prst="rect">
            <a:avLst/>
          </a:prstGeom>
          <a:solidFill>
            <a:srgbClr val="97BC62"/>
          </a:solidFill>
          <a:ln w="12700">
            <a:solidFill>
              <a:srgbClr val="97BC62"/>
            </a:solidFill>
            <a:prstDash val="solid"/>
          </a:ln>
        </p:spPr>
      </p:sp>
      <p:sp>
        <p:nvSpPr>
          <p:cNvPr id="9" name="Text 7"/>
          <p:cNvSpPr/>
          <p:nvPr/>
        </p:nvSpPr>
        <p:spPr>
          <a:xfrm>
            <a:off x="4361688" y="1371600"/>
            <a:ext cx="365760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Why training ≈ validation accuracy</a:t>
            </a:r>
            <a:endParaRPr lang="en-US" sz="1500" dirty="0"/>
          </a:p>
        </p:txBody>
      </p:sp>
      <p:sp>
        <p:nvSpPr>
          <p:cNvPr id="10" name="Shape 8"/>
          <p:cNvSpPr/>
          <p:nvPr/>
        </p:nvSpPr>
        <p:spPr>
          <a:xfrm>
            <a:off x="4361688" y="1920240"/>
            <a:ext cx="3657600" cy="3611880"/>
          </a:xfrm>
          <a:prstGeom prst="rect">
            <a:avLst/>
          </a:prstGeom>
          <a:solidFill>
            <a:srgbClr val="F5F7F2"/>
          </a:solidFill>
          <a:ln w="12700">
            <a:solidFill>
              <a:srgbClr val="97BC62"/>
            </a:solidFill>
            <a:prstDash val="solid"/>
          </a:ln>
        </p:spPr>
      </p:sp>
      <p:sp>
        <p:nvSpPr>
          <p:cNvPr id="11" name="Text 9"/>
          <p:cNvSpPr/>
          <p:nvPr/>
        </p:nvSpPr>
        <p:spPr>
          <a:xfrm>
            <a:off x="4544568" y="2011680"/>
            <a:ext cx="3291840" cy="34290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In many epochs, training accuracy was similar to or slightly below validation accuracy. Training uses augmented inputs (harder distribution); validation uses clean inputs. The model sees a harder version of the data during training — this is the regularizer working correctly, not overfitting.</a:t>
            </a:r>
            <a:endParaRPr lang="en-US" sz="1300" dirty="0"/>
          </a:p>
        </p:txBody>
      </p:sp>
      <p:sp>
        <p:nvSpPr>
          <p:cNvPr id="12" name="Shape 10"/>
          <p:cNvSpPr/>
          <p:nvPr/>
        </p:nvSpPr>
        <p:spPr>
          <a:xfrm>
            <a:off x="8266176" y="1371600"/>
            <a:ext cx="3657600" cy="548640"/>
          </a:xfrm>
          <a:prstGeom prst="rect">
            <a:avLst/>
          </a:prstGeom>
          <a:solidFill>
            <a:srgbClr val="2C5F2D"/>
          </a:solidFill>
          <a:ln w="12700">
            <a:solidFill>
              <a:srgbClr val="2C5F2D"/>
            </a:solidFill>
            <a:prstDash val="solid"/>
          </a:ln>
        </p:spPr>
      </p:sp>
      <p:sp>
        <p:nvSpPr>
          <p:cNvPr id="13" name="Text 11"/>
          <p:cNvSpPr/>
          <p:nvPr/>
        </p:nvSpPr>
        <p:spPr>
          <a:xfrm>
            <a:off x="8266176" y="1371600"/>
            <a:ext cx="365760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Natural next steps</a:t>
            </a:r>
            <a:endParaRPr lang="en-US" sz="1500" dirty="0"/>
          </a:p>
        </p:txBody>
      </p:sp>
      <p:sp>
        <p:nvSpPr>
          <p:cNvPr id="14" name="Shape 12"/>
          <p:cNvSpPr/>
          <p:nvPr/>
        </p:nvSpPr>
        <p:spPr>
          <a:xfrm>
            <a:off x="8266176" y="1920240"/>
            <a:ext cx="3657600" cy="3611880"/>
          </a:xfrm>
          <a:prstGeom prst="rect">
            <a:avLst/>
          </a:prstGeom>
          <a:solidFill>
            <a:srgbClr val="F5F7F2"/>
          </a:solidFill>
          <a:ln w="12700">
            <a:solidFill>
              <a:srgbClr val="2C5F2D"/>
            </a:solidFill>
            <a:prstDash val="solid"/>
          </a:ln>
        </p:spPr>
      </p:sp>
      <p:sp>
        <p:nvSpPr>
          <p:cNvPr id="15" name="Text 13"/>
          <p:cNvSpPr/>
          <p:nvPr/>
        </p:nvSpPr>
        <p:spPr>
          <a:xfrm>
            <a:off x="8449056" y="2011680"/>
            <a:ext cx="3291840" cy="34290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Top teams use (1) late fusion with separate per-modality encoders, (2) self-supervised pretraining on unlabeled Sentinel satellite data. Our 0.722 uses neither — labeled data only. Adding SSL is the highest-value extension. Late fusion with cross-modal attention would better handle the modality-resolution mismatch.</a:t>
            </a:r>
            <a:endParaRPr lang="en-US" sz="1300" dirty="0"/>
          </a:p>
        </p:txBody>
      </p:sp>
      <p:sp>
        <p:nvSpPr>
          <p:cNvPr id="16" name="Shape 14"/>
          <p:cNvSpPr/>
          <p:nvPr/>
        </p:nvSpPr>
        <p:spPr>
          <a:xfrm>
            <a:off x="457200" y="5669280"/>
            <a:ext cx="11247120" cy="548640"/>
          </a:xfrm>
          <a:prstGeom prst="rect">
            <a:avLst/>
          </a:prstGeom>
          <a:solidFill>
            <a:srgbClr val="F5F7F2"/>
          </a:solidFill>
          <a:ln w="12700">
            <a:solidFill>
              <a:srgbClr val="97BC62"/>
            </a:solidFill>
            <a:prstDash val="solid"/>
          </a:ln>
        </p:spPr>
      </p:sp>
      <p:sp>
        <p:nvSpPr>
          <p:cNvPr id="17" name="Text 15"/>
          <p:cNvSpPr/>
          <p:nvPr/>
        </p:nvSpPr>
        <p:spPr>
          <a:xfrm>
            <a:off x="640080" y="5669280"/>
            <a:ext cx="10881360" cy="54864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Limitations: </a:t>
            </a:r>
            <a:pPr indent="0" marL="0">
              <a:buNone/>
            </a:pPr>
            <a:r>
              <a:rPr lang="en-US" sz="1200" i="1" dirty="0">
                <a:solidFill>
                  <a:srgbClr val="1F2937"/>
                </a:solidFill>
                <a:latin typeface="Calibri" pitchFamily="34" charset="0"/>
                <a:ea typeface="Calibri" pitchFamily="34" charset="-122"/>
                <a:cs typeface="Calibri" pitchFamily="34" charset="-120"/>
              </a:rPr>
              <a:t>single backbone (ResNet50, no architectural ablation)  ·  early fusion only  ·  default hyperparameters  ·  no self-supervised pretraining</a:t>
            </a:r>
            <a:endParaRPr lang="en-US" sz="1300" dirty="0"/>
          </a:p>
        </p:txBody>
      </p:sp>
      <p:sp>
        <p:nvSpPr>
          <p:cNvPr id="19" name="Text 16"/>
          <p:cNvSpPr/>
          <p:nvPr/>
        </p:nvSpPr>
        <p:spPr>
          <a:xfrm>
            <a:off x="457200" y="6446520"/>
            <a:ext cx="73152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Wheat Disease Classification  |  Spring 2026</a:t>
            </a:r>
            <a:endParaRPr lang="en-US" sz="1000" dirty="0"/>
          </a:p>
        </p:txBody>
      </p:sp>
      <p:sp>
        <p:nvSpPr>
          <p:cNvPr id="20" name="Text 17"/>
          <p:cNvSpPr/>
          <p:nvPr/>
        </p:nvSpPr>
        <p:spPr>
          <a:xfrm>
            <a:off x="11430000" y="644652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C5F2D"/>
        </a:solidFill>
      </p:bgPr>
    </p:bg>
    <p:spTree>
      <p:nvGrpSpPr>
        <p:cNvPr id="1" name=""/>
        <p:cNvGrpSpPr/>
        <p:nvPr/>
      </p:nvGrpSpPr>
      <p:grpSpPr>
        <a:xfrm>
          <a:off x="0" y="0"/>
          <a:ext cx="0" cy="0"/>
          <a:chOff x="0" y="0"/>
          <a:chExt cx="0" cy="0"/>
        </a:xfrm>
      </p:grpSpPr>
      <p:sp>
        <p:nvSpPr>
          <p:cNvPr id="2" name="Text 0"/>
          <p:cNvSpPr/>
          <p:nvPr/>
        </p:nvSpPr>
        <p:spPr>
          <a:xfrm>
            <a:off x="914400" y="640080"/>
            <a:ext cx="10332720" cy="73152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Conclusion</a:t>
            </a:r>
            <a:endParaRPr lang="en-US" sz="4000" dirty="0"/>
          </a:p>
        </p:txBody>
      </p:sp>
      <p:sp>
        <p:nvSpPr>
          <p:cNvPr id="3" name="Shape 1"/>
          <p:cNvSpPr/>
          <p:nvPr/>
        </p:nvSpPr>
        <p:spPr>
          <a:xfrm>
            <a:off x="914400" y="1463040"/>
            <a:ext cx="548640" cy="73152"/>
          </a:xfrm>
          <a:prstGeom prst="rect">
            <a:avLst/>
          </a:prstGeom>
          <a:solidFill>
            <a:srgbClr val="97BC62"/>
          </a:solidFill>
          <a:ln w="12700">
            <a:solidFill>
              <a:srgbClr val="97BC62"/>
            </a:solidFill>
            <a:prstDash val="solid"/>
          </a:ln>
        </p:spPr>
      </p:sp>
      <p:sp>
        <p:nvSpPr>
          <p:cNvPr id="4" name="Text 2"/>
          <p:cNvSpPr/>
          <p:nvPr/>
        </p:nvSpPr>
        <p:spPr>
          <a:xfrm>
            <a:off x="914400" y="1737360"/>
            <a:ext cx="10332720" cy="68580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One hypothesis derived from the data. Three controlled models to test it. </a:t>
            </a:r>
            <a:pPr indent="0" marL="0">
              <a:buNone/>
            </a:pPr>
            <a:r>
              <a:rPr lang="en-US" sz="1800" b="1" dirty="0">
                <a:solidFill>
                  <a:srgbClr val="97BC62"/>
                </a:solidFill>
                <a:latin typeface="Calibri" pitchFamily="34" charset="0"/>
                <a:ea typeface="Calibri" pitchFamily="34" charset="-122"/>
                <a:cs typeface="Calibri" pitchFamily="34" charset="-120"/>
              </a:rPr>
              <a:t>Every metric confirmed it.</a:t>
            </a:r>
            <a:endParaRPr lang="en-US" sz="1800" dirty="0"/>
          </a:p>
        </p:txBody>
      </p:sp>
      <p:sp>
        <p:nvSpPr>
          <p:cNvPr id="5" name="Text 3"/>
          <p:cNvSpPr/>
          <p:nvPr/>
        </p:nvSpPr>
        <p:spPr>
          <a:xfrm>
            <a:off x="914400" y="2560320"/>
            <a:ext cx="10332720" cy="150876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Adding MS (Red Edge + NIR) raises Kaggle public from 0.505 to 0.632 (+12.6 pp). </a:t>
            </a:r>
            <a:pPr indent="0" marL="0">
              <a:buNone/>
            </a:pPr>
            <a:r>
              <a:rPr lang="en-US" sz="1600" dirty="0">
                <a:solidFill>
                  <a:srgbClr val="FFFFFF"/>
                </a:solidFill>
                <a:latin typeface="Calibri" pitchFamily="34" charset="0"/>
                <a:ea typeface="Calibri" pitchFamily="34" charset="-122"/>
                <a:cs typeface="Calibri" pitchFamily="34" charset="-120"/>
              </a:rPr>
              <a:t>Adding HS via a lightweight learned spectral encoder raises it further to 0.684 (+5.2 pp). </a:t>
            </a:r>
            <a:pPr indent="0" marL="0">
              <a:buNone/>
            </a:pPr>
            <a:r>
              <a:rPr lang="en-US" sz="1600" dirty="0">
                <a:solidFill>
                  <a:srgbClr val="FFFFFF"/>
                </a:solidFill>
                <a:latin typeface="Calibri" pitchFamily="34" charset="0"/>
                <a:ea typeface="Calibri" pitchFamily="34" charset="-122"/>
                <a:cs typeface="Calibri" pitchFamily="34" charset="-120"/>
              </a:rPr>
              <a:t>Final Kaggle private score: 0.722. </a:t>
            </a:r>
            <a:pPr indent="0" marL="0">
              <a:buNone/>
            </a:pPr>
            <a:r>
              <a:rPr lang="en-US" sz="1600" b="1" dirty="0">
                <a:solidFill>
                  <a:srgbClr val="97BC62"/>
                </a:solidFill>
                <a:latin typeface="Calibri" pitchFamily="34" charset="0"/>
                <a:ea typeface="Calibri" pitchFamily="34" charset="-122"/>
                <a:cs typeface="Calibri" pitchFamily="34" charset="-120"/>
              </a:rPr>
              <a:t>Health F1 — the class Figure 2 identified as hardest for RGB — improves by +12 pp in total.</a:t>
            </a:r>
            <a:endParaRPr lang="en-US" sz="1600" dirty="0"/>
          </a:p>
        </p:txBody>
      </p:sp>
      <p:sp>
        <p:nvSpPr>
          <p:cNvPr id="6" name="Shape 4"/>
          <p:cNvSpPr/>
          <p:nvPr/>
        </p:nvSpPr>
        <p:spPr>
          <a:xfrm>
            <a:off x="914400" y="4297680"/>
            <a:ext cx="10332720" cy="1463040"/>
          </a:xfrm>
          <a:prstGeom prst="rect">
            <a:avLst/>
          </a:prstGeom>
          <a:solidFill>
            <a:srgbClr val="FFFFFF"/>
          </a:solidFill>
          <a:ln w="12700">
            <a:solidFill>
              <a:srgbClr val="97BC62"/>
            </a:solidFill>
            <a:prstDash val="solid"/>
          </a:ln>
        </p:spPr>
      </p:sp>
      <p:sp>
        <p:nvSpPr>
          <p:cNvPr id="7" name="Text 5"/>
          <p:cNvSpPr/>
          <p:nvPr/>
        </p:nvSpPr>
        <p:spPr>
          <a:xfrm>
            <a:off x="1097280" y="4389120"/>
            <a:ext cx="2286000" cy="822960"/>
          </a:xfrm>
          <a:prstGeom prst="rect">
            <a:avLst/>
          </a:prstGeom>
          <a:noFill/>
          <a:ln/>
        </p:spPr>
        <p:txBody>
          <a:bodyPr wrap="square" lIns="0" tIns="0" rIns="0" bIns="0" rtlCol="0" anchor="ctr"/>
          <a:lstStyle/>
          <a:p>
            <a:pPr algn="ctr" indent="0" marL="0">
              <a:buNone/>
            </a:pPr>
            <a:r>
              <a:rPr lang="en-US" sz="3600" b="1" dirty="0">
                <a:solidFill>
                  <a:srgbClr val="2C5F2D"/>
                </a:solidFill>
                <a:latin typeface="Calibri" pitchFamily="34" charset="0"/>
                <a:ea typeface="Calibri" pitchFamily="34" charset="-122"/>
                <a:cs typeface="Calibri" pitchFamily="34" charset="-120"/>
              </a:rPr>
              <a:t>0.673</a:t>
            </a:r>
            <a:endParaRPr lang="en-US" sz="3600" dirty="0"/>
          </a:p>
        </p:txBody>
      </p:sp>
      <p:sp>
        <p:nvSpPr>
          <p:cNvPr id="8" name="Text 6"/>
          <p:cNvSpPr/>
          <p:nvPr/>
        </p:nvSpPr>
        <p:spPr>
          <a:xfrm>
            <a:off x="1097280" y="5257800"/>
            <a:ext cx="2286000" cy="365760"/>
          </a:xfrm>
          <a:prstGeom prst="rect">
            <a:avLst/>
          </a:prstGeom>
          <a:noFill/>
          <a:ln/>
        </p:spPr>
        <p:txBody>
          <a:bodyPr wrap="square" lIns="0" tIns="0" rIns="0" bIns="0"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CV accuracy</a:t>
            </a:r>
            <a:endParaRPr lang="en-US" sz="1300" dirty="0"/>
          </a:p>
        </p:txBody>
      </p:sp>
      <p:sp>
        <p:nvSpPr>
          <p:cNvPr id="9" name="Text 7"/>
          <p:cNvSpPr/>
          <p:nvPr/>
        </p:nvSpPr>
        <p:spPr>
          <a:xfrm>
            <a:off x="3680460" y="4389120"/>
            <a:ext cx="2286000" cy="822960"/>
          </a:xfrm>
          <a:prstGeom prst="rect">
            <a:avLst/>
          </a:prstGeom>
          <a:noFill/>
          <a:ln/>
        </p:spPr>
        <p:txBody>
          <a:bodyPr wrap="square" lIns="0" tIns="0" rIns="0" bIns="0" rtlCol="0" anchor="ctr"/>
          <a:lstStyle/>
          <a:p>
            <a:pPr algn="ctr" indent="0" marL="0">
              <a:buNone/>
            </a:pPr>
            <a:r>
              <a:rPr lang="en-US" sz="3600" b="1" dirty="0">
                <a:solidFill>
                  <a:srgbClr val="2C5F2D"/>
                </a:solidFill>
                <a:latin typeface="Calibri" pitchFamily="34" charset="0"/>
                <a:ea typeface="Calibri" pitchFamily="34" charset="-122"/>
                <a:cs typeface="Calibri" pitchFamily="34" charset="-120"/>
              </a:rPr>
              <a:t>0.651</a:t>
            </a:r>
            <a:endParaRPr lang="en-US" sz="3600" dirty="0"/>
          </a:p>
        </p:txBody>
      </p:sp>
      <p:sp>
        <p:nvSpPr>
          <p:cNvPr id="10" name="Text 8"/>
          <p:cNvSpPr/>
          <p:nvPr/>
        </p:nvSpPr>
        <p:spPr>
          <a:xfrm>
            <a:off x="3680460" y="5257800"/>
            <a:ext cx="2286000" cy="365760"/>
          </a:xfrm>
          <a:prstGeom prst="rect">
            <a:avLst/>
          </a:prstGeom>
          <a:noFill/>
          <a:ln/>
        </p:spPr>
        <p:txBody>
          <a:bodyPr wrap="square" lIns="0" tIns="0" rIns="0" bIns="0"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Macro-F1</a:t>
            </a:r>
            <a:endParaRPr lang="en-US" sz="1300" dirty="0"/>
          </a:p>
        </p:txBody>
      </p:sp>
      <p:sp>
        <p:nvSpPr>
          <p:cNvPr id="11" name="Text 9"/>
          <p:cNvSpPr/>
          <p:nvPr/>
        </p:nvSpPr>
        <p:spPr>
          <a:xfrm>
            <a:off x="6263640" y="4389120"/>
            <a:ext cx="2286000" cy="822960"/>
          </a:xfrm>
          <a:prstGeom prst="rect">
            <a:avLst/>
          </a:prstGeom>
          <a:noFill/>
          <a:ln/>
        </p:spPr>
        <p:txBody>
          <a:bodyPr wrap="square" lIns="0" tIns="0" rIns="0" bIns="0" rtlCol="0" anchor="ctr"/>
          <a:lstStyle/>
          <a:p>
            <a:pPr algn="ctr" indent="0" marL="0">
              <a:buNone/>
            </a:pPr>
            <a:r>
              <a:rPr lang="en-US" sz="3600" b="1" dirty="0">
                <a:solidFill>
                  <a:srgbClr val="B85042"/>
                </a:solidFill>
                <a:latin typeface="Calibri" pitchFamily="34" charset="0"/>
                <a:ea typeface="Calibri" pitchFamily="34" charset="-122"/>
                <a:cs typeface="Calibri" pitchFamily="34" charset="-120"/>
              </a:rPr>
              <a:t>0.684</a:t>
            </a:r>
            <a:endParaRPr lang="en-US" sz="3600" dirty="0"/>
          </a:p>
        </p:txBody>
      </p:sp>
      <p:sp>
        <p:nvSpPr>
          <p:cNvPr id="12" name="Text 10"/>
          <p:cNvSpPr/>
          <p:nvPr/>
        </p:nvSpPr>
        <p:spPr>
          <a:xfrm>
            <a:off x="6263640" y="5257800"/>
            <a:ext cx="2286000" cy="365760"/>
          </a:xfrm>
          <a:prstGeom prst="rect">
            <a:avLst/>
          </a:prstGeom>
          <a:noFill/>
          <a:ln/>
        </p:spPr>
        <p:txBody>
          <a:bodyPr wrap="square" lIns="0" tIns="0" rIns="0" bIns="0"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Kaggle public</a:t>
            </a:r>
            <a:endParaRPr lang="en-US" sz="1300" dirty="0"/>
          </a:p>
        </p:txBody>
      </p:sp>
      <p:sp>
        <p:nvSpPr>
          <p:cNvPr id="13" name="Text 11"/>
          <p:cNvSpPr/>
          <p:nvPr/>
        </p:nvSpPr>
        <p:spPr>
          <a:xfrm>
            <a:off x="8846820" y="4389120"/>
            <a:ext cx="2286000" cy="822960"/>
          </a:xfrm>
          <a:prstGeom prst="rect">
            <a:avLst/>
          </a:prstGeom>
          <a:noFill/>
          <a:ln/>
        </p:spPr>
        <p:txBody>
          <a:bodyPr wrap="square" lIns="0" tIns="0" rIns="0" bIns="0" rtlCol="0" anchor="ctr"/>
          <a:lstStyle/>
          <a:p>
            <a:pPr algn="ctr" indent="0" marL="0">
              <a:buNone/>
            </a:pPr>
            <a:r>
              <a:rPr lang="en-US" sz="3600" b="1" dirty="0">
                <a:solidFill>
                  <a:srgbClr val="B85042"/>
                </a:solidFill>
                <a:latin typeface="Calibri" pitchFamily="34" charset="0"/>
                <a:ea typeface="Calibri" pitchFamily="34" charset="-122"/>
                <a:cs typeface="Calibri" pitchFamily="34" charset="-120"/>
              </a:rPr>
              <a:t>0.722</a:t>
            </a:r>
            <a:endParaRPr lang="en-US" sz="3600" dirty="0"/>
          </a:p>
        </p:txBody>
      </p:sp>
      <p:sp>
        <p:nvSpPr>
          <p:cNvPr id="14" name="Text 12"/>
          <p:cNvSpPr/>
          <p:nvPr/>
        </p:nvSpPr>
        <p:spPr>
          <a:xfrm>
            <a:off x="8846820" y="5257800"/>
            <a:ext cx="2286000" cy="365760"/>
          </a:xfrm>
          <a:prstGeom prst="rect">
            <a:avLst/>
          </a:prstGeom>
          <a:noFill/>
          <a:ln/>
        </p:spPr>
        <p:txBody>
          <a:bodyPr wrap="square" lIns="0" tIns="0" rIns="0" bIns="0"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Kaggle private</a:t>
            </a:r>
            <a:endParaRPr lang="en-US" sz="1300" dirty="0"/>
          </a:p>
        </p:txBody>
      </p:sp>
      <p:sp>
        <p:nvSpPr>
          <p:cNvPr id="15" name="Text 13"/>
          <p:cNvSpPr/>
          <p:nvPr/>
        </p:nvSpPr>
        <p:spPr>
          <a:xfrm>
            <a:off x="914400" y="5989320"/>
            <a:ext cx="10332720" cy="457200"/>
          </a:xfrm>
          <a:prstGeom prst="rect">
            <a:avLst/>
          </a:prstGeom>
          <a:noFill/>
          <a:ln/>
        </p:spPr>
        <p:txBody>
          <a:bodyPr wrap="square" lIns="0" tIns="0" rIns="0" bIns="0" rtlCol="0" anchor="ctr"/>
          <a:lstStyle/>
          <a:p>
            <a:pPr algn="ctr" indent="0" marL="0">
              <a:buNone/>
            </a:pPr>
            <a:r>
              <a:rPr lang="en-US" sz="2000" i="1" dirty="0">
                <a:solidFill>
                  <a:srgbClr val="CADCFC"/>
                </a:solidFill>
                <a:latin typeface="Calibri" pitchFamily="34" charset="0"/>
                <a:ea typeface="Calibri" pitchFamily="34" charset="-122"/>
                <a:cs typeface="Calibri" pitchFamily="34" charset="-120"/>
              </a:rPr>
              <a:t>Thank you</a:t>
            </a:r>
            <a:endParaRPr lang="en-US" sz="2000" dirty="0"/>
          </a:p>
        </p:txBody>
      </p:sp>
      <p:sp>
        <p:nvSpPr>
          <p:cNvPr id="16" name="Shape 14"/>
          <p:cNvSpPr/>
          <p:nvPr/>
        </p:nvSpPr>
        <p:spPr>
          <a:xfrm>
            <a:off x="0" y="6492240"/>
            <a:ext cx="12161520" cy="365760"/>
          </a:xfrm>
          <a:prstGeom prst="rect">
            <a:avLst/>
          </a:prstGeom>
          <a:solidFill>
            <a:srgbClr val="97BC62"/>
          </a:solidFill>
          <a:ln w="12700">
            <a:solidFill>
              <a:srgbClr val="97BC62"/>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Wheat Disease Classification</dc:title>
  <dc:subject>PptxGenJS Presentation</dc:subject>
  <dc:creator>Deep Learning Project</dc:creator>
  <cp:lastModifiedBy>Deep Learning Project</cp:lastModifiedBy>
  <cp:revision>1</cp:revision>
  <dcterms:created xsi:type="dcterms:W3CDTF">2026-05-18T12:09:06Z</dcterms:created>
  <dcterms:modified xsi:type="dcterms:W3CDTF">2026-05-18T12:09:06Z</dcterms:modified>
</cp:coreProperties>
</file>